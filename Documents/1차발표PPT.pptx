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73" r:id="rId6"/>
    <p:sldId id="265" r:id="rId7"/>
    <p:sldId id="262" r:id="rId8"/>
    <p:sldId id="274" r:id="rId9"/>
    <p:sldId id="268" r:id="rId10"/>
    <p:sldId id="269" r:id="rId11"/>
    <p:sldId id="263" r:id="rId12"/>
    <p:sldId id="270" r:id="rId13"/>
    <p:sldId id="272" r:id="rId14"/>
    <p:sldId id="275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4177C6DE-8E7B-01E4-7926-21D0E1804DD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73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D02AEA-6022-E5C2-E030-8207987ECA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B2F320E-3031-E5E9-F844-24A424F810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A84530-83B6-A2A2-051F-F99D4C0734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D5FB2B-8AC3-4798-AE12-B6450F17ACC8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709F65-8E7C-A284-C647-92E756661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08A687B-AC08-7797-5405-076425349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A7CE1-FECF-44E1-AD75-9191151152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33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99A5AD-D74A-434C-0F7F-0432E00C8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AE599AA-2584-C9FC-6261-1861CD8708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335A44D-A983-68D5-86A5-CC0F92FEC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D5FB2B-8AC3-4798-AE12-B6450F17ACC8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F05BBD3-76BB-8CD1-5E0E-0911638393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2ED11BA-5899-6CDC-C5B9-ABE32C6E4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A7CE1-FECF-44E1-AD75-9191151152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2334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DD7A4F-4615-406A-0620-C3482440E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C21996-1687-146E-6BCA-914388D1B5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E599764-A02D-762D-ACC8-EBC76E1CEB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9E2FFF7-1043-3792-6FE8-44871130B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D5FB2B-8AC3-4798-AE12-B6450F17ACC8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8D5BD66-A12E-6BD0-7BEF-B6EC0706C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B44167D-59C9-5F78-6BFB-857EE0348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A7CE1-FECF-44E1-AD75-9191151152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46582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C24567-FEA6-4907-D7B6-46A8C6627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F131D19-B63B-A197-C9A5-BB6F83AE7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4C22EED-F1D2-20B9-6D46-E94BABBB48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CD49430-AECB-05CB-2CB3-CAEF413D4B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3C24176-C90E-23FD-AA5C-CAAB42382B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5DC8A1C-260F-70EB-B52D-E5BB118E65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D5FB2B-8AC3-4798-AE12-B6450F17ACC8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9B32A12-5C8B-7BF7-BC4E-45D9DC511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421DAD3-6FF2-974F-E967-6899CE852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A7CE1-FECF-44E1-AD75-9191151152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8618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D9BD7-CDF5-BF43-A449-504216F9C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3960402-C0B4-8674-D330-FFE274868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D5FB2B-8AC3-4798-AE12-B6450F17ACC8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650FABF-244E-15B5-7AB9-9859B6F6A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018B220-08D3-605B-3C43-F8080DADD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A7CE1-FECF-44E1-AD75-9191151152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7739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272D096-2266-1B75-E3BA-1E55DEB9D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D5FB2B-8AC3-4798-AE12-B6450F17ACC8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AB02928-884A-D301-AA95-71EFDB685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C15A83-196E-044D-0843-52129322E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A7CE1-FECF-44E1-AD75-9191151152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84642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5F6660-658B-60A1-7D49-82E537EFD2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310DFAB-9E6E-921C-F054-B85BB33FDE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755D152-5282-B552-E6F5-92AEF715FF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C7AEAA1-1A31-F526-4B8D-A27874A6D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D5FB2B-8AC3-4798-AE12-B6450F17ACC8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A073AAF-032B-9974-7CF4-DB60C0D588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AB3713-45CF-F904-4459-3E726A8A4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A7CE1-FECF-44E1-AD75-9191151152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8079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9931CF-94CB-76FD-5DD7-654634A4D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8EC6E81-8DF7-0CF0-1FAB-090F2AADED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506E558-1E97-5EE9-0A31-D43DC6441C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E01454-43CB-AE91-53C3-6FD69D2A3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D5FB2B-8AC3-4798-AE12-B6450F17ACC8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D80F0F3-2FFC-3D39-AAEC-104F8B9E2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D71A21C-0E73-C774-136B-3EF19FC51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A7CE1-FECF-44E1-AD75-9191151152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35500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B7207E-2F66-4291-E50B-3EB2A2FF9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06E52D9-7C72-F8C9-0D89-70A455F06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DF13C43-02FE-5022-409F-692016F24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D5FB2B-8AC3-4798-AE12-B6450F17ACC8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0128D0-36BA-DEEE-04C3-72D3319F0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32B338-4CA3-4AD3-E0A1-081A56FEA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A7CE1-FECF-44E1-AD75-9191151152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02627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8D8BF3B-ABBA-0844-942A-A9666F699D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D28A064-C92D-8F67-D0C7-D091EDE83D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A71668-E41A-7934-5837-5197D3187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D5FB2B-8AC3-4798-AE12-B6450F17ACC8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C73CBF-E2E3-5F7F-BE29-CB4232602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127AE7-47DE-C049-0384-E8D94E292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A7CE1-FECF-44E1-AD75-9191151152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0996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269FC81-81F3-611A-D619-720A2FA39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ADCD955-D94F-1D22-741F-EB4672A287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86B8819-C7A1-FAA2-045F-6223AFA2D4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D5FB2B-8AC3-4798-AE12-B6450F17ACC8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7BFDAB-5215-CD11-2612-15B891A5EE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36F888B-A134-FE2C-AF0D-424C2EBB2E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2A7CE1-FECF-44E1-AD75-9191151152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3251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D7BEEB1D-F974-D400-C1EB-D2A44A6550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4597" y="1294568"/>
            <a:ext cx="5322806" cy="24350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8452A9C-E59D-6FE7-6F5B-6B18612216C4}"/>
              </a:ext>
            </a:extLst>
          </p:cNvPr>
          <p:cNvSpPr txBox="1"/>
          <p:nvPr/>
        </p:nvSpPr>
        <p:spPr>
          <a:xfrm>
            <a:off x="3648722" y="4580877"/>
            <a:ext cx="479394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5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Team Cube</a:t>
            </a:r>
            <a:endParaRPr lang="ko-KR" altLang="en-US" sz="2500" b="1" dirty="0">
              <a:solidFill>
                <a:schemeClr val="bg1"/>
              </a:solidFill>
              <a:latin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26698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8FCFA-F238-A7D1-03F7-EA1314975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9BD15F-57AA-3EA8-0462-B8DC83FF4453}"/>
              </a:ext>
            </a:extLst>
          </p:cNvPr>
          <p:cNvSpPr txBox="1"/>
          <p:nvPr/>
        </p:nvSpPr>
        <p:spPr>
          <a:xfrm>
            <a:off x="3672395" y="745724"/>
            <a:ext cx="479394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Team Cube</a:t>
            </a:r>
            <a:endParaRPr lang="ko-KR" altLang="en-US" sz="5000" b="1" dirty="0">
              <a:solidFill>
                <a:schemeClr val="bg1"/>
              </a:solidFill>
              <a:latin typeface="Cambria Math" panose="020405030504060302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93BFA9-FE16-C744-67CD-29C0E2CB18E1}"/>
              </a:ext>
            </a:extLst>
          </p:cNvPr>
          <p:cNvSpPr txBox="1"/>
          <p:nvPr/>
        </p:nvSpPr>
        <p:spPr>
          <a:xfrm>
            <a:off x="3161189" y="2869605"/>
            <a:ext cx="6169241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기획 </a:t>
            </a:r>
            <a:r>
              <a:rPr lang="en-US" altLang="ko-KR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: </a:t>
            </a:r>
            <a:r>
              <a:rPr lang="ko-KR" altLang="en-US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허진서</a:t>
            </a:r>
            <a:endParaRPr lang="en-US" altLang="ko-KR" sz="3000" b="1" dirty="0">
              <a:solidFill>
                <a:schemeClr val="bg1"/>
              </a:solidFill>
              <a:latin typeface="Cambria Math" panose="02040503050406030204" pitchFamily="18" charset="0"/>
            </a:endParaRPr>
          </a:p>
          <a:p>
            <a:pPr algn="just"/>
            <a:r>
              <a:rPr lang="ko-KR" altLang="en-US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프로그래밍 </a:t>
            </a:r>
            <a:r>
              <a:rPr lang="en-US" altLang="ko-KR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: </a:t>
            </a:r>
            <a:r>
              <a:rPr lang="ko-KR" altLang="en-US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이진우</a:t>
            </a:r>
            <a:r>
              <a:rPr lang="en-US" altLang="ko-KR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, </a:t>
            </a:r>
            <a:r>
              <a:rPr lang="ko-KR" altLang="en-US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박금서</a:t>
            </a:r>
            <a:endParaRPr lang="en-US" altLang="ko-KR" sz="3000" b="1" dirty="0">
              <a:solidFill>
                <a:schemeClr val="bg1"/>
              </a:solidFill>
              <a:latin typeface="Cambria Math" panose="02040503050406030204" pitchFamily="18" charset="0"/>
            </a:endParaRPr>
          </a:p>
          <a:p>
            <a:pPr algn="just"/>
            <a:r>
              <a:rPr lang="ko-KR" altLang="en-US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원화 </a:t>
            </a:r>
            <a:r>
              <a:rPr lang="en-US" altLang="ko-KR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: </a:t>
            </a:r>
            <a:r>
              <a:rPr lang="ko-KR" altLang="en-US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조서현</a:t>
            </a:r>
            <a:endParaRPr lang="en-US" altLang="ko-KR" sz="3000" b="1" dirty="0">
              <a:solidFill>
                <a:schemeClr val="bg1"/>
              </a:solidFill>
              <a:latin typeface="Cambria Math" panose="02040503050406030204" pitchFamily="18" charset="0"/>
            </a:endParaRPr>
          </a:p>
          <a:p>
            <a:pPr algn="just"/>
            <a:r>
              <a:rPr lang="en-US" altLang="ko-KR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3D </a:t>
            </a:r>
            <a:r>
              <a:rPr lang="ko-KR" altLang="en-US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캐릭터 </a:t>
            </a:r>
            <a:r>
              <a:rPr lang="en-US" altLang="ko-KR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: </a:t>
            </a:r>
            <a:r>
              <a:rPr lang="ko-KR" altLang="en-US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최지환</a:t>
            </a:r>
            <a:r>
              <a:rPr lang="en-US" altLang="ko-KR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, </a:t>
            </a:r>
            <a:r>
              <a:rPr lang="ko-KR" altLang="en-US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정수현</a:t>
            </a:r>
            <a:r>
              <a:rPr lang="en-US" altLang="ko-KR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, </a:t>
            </a:r>
            <a:r>
              <a:rPr lang="ko-KR" altLang="en-US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박이슬</a:t>
            </a:r>
            <a:endParaRPr lang="en-US" altLang="ko-KR" sz="3000" b="1" dirty="0">
              <a:solidFill>
                <a:schemeClr val="bg1"/>
              </a:solidFill>
              <a:latin typeface="Cambria Math" panose="02040503050406030204" pitchFamily="18" charset="0"/>
            </a:endParaRPr>
          </a:p>
          <a:p>
            <a:pPr algn="just"/>
            <a:r>
              <a:rPr lang="en-US" altLang="ko-KR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3D </a:t>
            </a:r>
            <a:r>
              <a:rPr lang="ko-KR" altLang="en-US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배경 </a:t>
            </a:r>
            <a:r>
              <a:rPr lang="en-US" altLang="ko-KR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: </a:t>
            </a:r>
            <a:r>
              <a:rPr lang="ko-KR" altLang="en-US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유태하</a:t>
            </a:r>
            <a:r>
              <a:rPr lang="en-US" altLang="ko-KR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, </a:t>
            </a:r>
            <a:r>
              <a:rPr lang="ko-KR" altLang="en-US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리련명 </a:t>
            </a:r>
          </a:p>
        </p:txBody>
      </p:sp>
    </p:spTree>
    <p:extLst>
      <p:ext uri="{BB962C8B-B14F-4D97-AF65-F5344CB8AC3E}">
        <p14:creationId xmlns:p14="http://schemas.microsoft.com/office/powerpoint/2010/main" val="33149608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BBEEF-0C1F-E58C-DED8-2EC4F5683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A6D8B8-42A5-58A8-D740-0A6BA46BCC04}"/>
              </a:ext>
            </a:extLst>
          </p:cNvPr>
          <p:cNvSpPr txBox="1"/>
          <p:nvPr/>
        </p:nvSpPr>
        <p:spPr>
          <a:xfrm>
            <a:off x="3672395" y="745724"/>
            <a:ext cx="479394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Stage 1 Concept</a:t>
            </a:r>
            <a:endParaRPr lang="ko-KR" altLang="en-US" sz="5000" b="1" dirty="0">
              <a:solidFill>
                <a:schemeClr val="bg1"/>
              </a:solidFill>
              <a:latin typeface="Cambria Math" panose="020405030504060302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0ACA90-A9E6-1B9E-B38A-1208B2242861}"/>
              </a:ext>
            </a:extLst>
          </p:cNvPr>
          <p:cNvSpPr txBox="1"/>
          <p:nvPr/>
        </p:nvSpPr>
        <p:spPr>
          <a:xfrm>
            <a:off x="2270094" y="5992856"/>
            <a:ext cx="765181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어렸을 때 호기심으로 모험한 뒷산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E66F318-D9BF-AC5C-2901-FDA751F920C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114"/>
          <a:stretch>
            <a:fillRect/>
          </a:stretch>
        </p:blipFill>
        <p:spPr>
          <a:xfrm>
            <a:off x="1935352" y="1722268"/>
            <a:ext cx="7986554" cy="3968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6843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545D8-7056-5D97-D375-1CDF3BBC9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806B31-CC53-E848-5200-F9D8D178A53F}"/>
              </a:ext>
            </a:extLst>
          </p:cNvPr>
          <p:cNvSpPr txBox="1"/>
          <p:nvPr/>
        </p:nvSpPr>
        <p:spPr>
          <a:xfrm>
            <a:off x="3672395" y="745724"/>
            <a:ext cx="479394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1. </a:t>
            </a:r>
            <a:r>
              <a:rPr lang="ko-KR" altLang="en-US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뒷산의 유적</a:t>
            </a:r>
            <a:endParaRPr lang="ko-KR" altLang="en-US" sz="5000" b="1" dirty="0">
              <a:solidFill>
                <a:schemeClr val="bg1"/>
              </a:solidFill>
              <a:latin typeface="Cambria Math" panose="020405030504060302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BDDB52-60F4-F9AA-D58A-9A64B19038C0}"/>
              </a:ext>
            </a:extLst>
          </p:cNvPr>
          <p:cNvSpPr txBox="1"/>
          <p:nvPr/>
        </p:nvSpPr>
        <p:spPr>
          <a:xfrm>
            <a:off x="1531581" y="5203171"/>
            <a:ext cx="907556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정신을 차리고 주위를 둘러보니 낯익은 광경이 보인다</a:t>
            </a:r>
            <a:r>
              <a:rPr lang="en-US" altLang="ko-KR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.</a:t>
            </a:r>
            <a:endParaRPr lang="ko-KR" altLang="en-US" sz="3000" b="1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041B60-DE32-5BC2-3B67-A00B161EFDDF}"/>
              </a:ext>
            </a:extLst>
          </p:cNvPr>
          <p:cNvSpPr txBox="1"/>
          <p:nvPr/>
        </p:nvSpPr>
        <p:spPr>
          <a:xfrm>
            <a:off x="643815" y="5924054"/>
            <a:ext cx="110569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모티브 </a:t>
            </a:r>
            <a:r>
              <a:rPr lang="en-US" altLang="ko-KR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: </a:t>
            </a:r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어렸을 때 자주 갔던 뒷산의 모습 </a:t>
            </a:r>
            <a:r>
              <a:rPr lang="en-US" altLang="ko-KR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+ </a:t>
            </a:r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지역 유명한 관광명소</a:t>
            </a:r>
            <a:endParaRPr lang="en-US" altLang="ko-KR" sz="3000" b="1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5AD7893-FD56-748A-5974-B039B2C43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549" y="2060441"/>
            <a:ext cx="5460393" cy="273711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6B7975B-9E08-D8A2-7E04-A6C1074F75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3060" y="2060441"/>
            <a:ext cx="5446688" cy="2737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37143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CEBD3-29A8-52C8-AFA5-0E201988F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6E8F4C-9C65-1F3E-C349-ADADB9C6CBAE}"/>
              </a:ext>
            </a:extLst>
          </p:cNvPr>
          <p:cNvSpPr txBox="1"/>
          <p:nvPr/>
        </p:nvSpPr>
        <p:spPr>
          <a:xfrm>
            <a:off x="3672395" y="745724"/>
            <a:ext cx="479394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1. </a:t>
            </a:r>
            <a:r>
              <a:rPr lang="ko-KR" altLang="en-US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뒷산의 유적</a:t>
            </a:r>
            <a:endParaRPr lang="ko-KR" altLang="en-US" sz="5000" b="1" dirty="0">
              <a:solidFill>
                <a:schemeClr val="bg1"/>
              </a:solidFill>
              <a:latin typeface="Cambria Math" panose="020405030504060302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3B479A-0020-31D7-9433-7F9958C4F44D}"/>
              </a:ext>
            </a:extLst>
          </p:cNvPr>
          <p:cNvSpPr txBox="1"/>
          <p:nvPr/>
        </p:nvSpPr>
        <p:spPr>
          <a:xfrm>
            <a:off x="1531581" y="5203171"/>
            <a:ext cx="907556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튜토리얼 시스템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0E008F-0012-C610-2556-2D7DA358DB81}"/>
              </a:ext>
            </a:extLst>
          </p:cNvPr>
          <p:cNvSpPr txBox="1"/>
          <p:nvPr/>
        </p:nvSpPr>
        <p:spPr>
          <a:xfrm>
            <a:off x="643815" y="5924054"/>
            <a:ext cx="110569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유저가 특정 위치에 도달하면 화면 상단에 튜토리얼이 발생합니다</a:t>
            </a:r>
            <a:r>
              <a:rPr lang="en-US" altLang="ko-KR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43EC0EB-E927-A5C3-63E3-DCDD7E0283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66" r="561"/>
          <a:stretch>
            <a:fillRect/>
          </a:stretch>
        </p:blipFill>
        <p:spPr>
          <a:xfrm>
            <a:off x="2325951" y="1677879"/>
            <a:ext cx="6818050" cy="3441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69888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AFC3B8-016D-70C9-8D50-5492F4C3D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9896CE3-2B18-C691-0850-A53921338B93}"/>
              </a:ext>
            </a:extLst>
          </p:cNvPr>
          <p:cNvSpPr txBox="1"/>
          <p:nvPr/>
        </p:nvSpPr>
        <p:spPr>
          <a:xfrm>
            <a:off x="3672395" y="745724"/>
            <a:ext cx="479394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1. </a:t>
            </a:r>
            <a:r>
              <a:rPr lang="ko-KR" altLang="en-US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뒷산의 유적</a:t>
            </a:r>
            <a:endParaRPr lang="ko-KR" altLang="en-US" sz="5000" b="1" dirty="0">
              <a:solidFill>
                <a:schemeClr val="bg1"/>
              </a:solidFill>
              <a:latin typeface="Cambria Math" panose="020405030504060302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894F10-008E-F200-239E-E03A77479A89}"/>
              </a:ext>
            </a:extLst>
          </p:cNvPr>
          <p:cNvSpPr txBox="1"/>
          <p:nvPr/>
        </p:nvSpPr>
        <p:spPr>
          <a:xfrm>
            <a:off x="540889" y="1973491"/>
            <a:ext cx="110569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b="1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유적을 들어가는 방법</a:t>
            </a:r>
            <a:endParaRPr lang="en-US" altLang="ko-KR" sz="3000" b="1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1CE803B-A171-77EB-1E72-1BE5FD801E3D}"/>
              </a:ext>
            </a:extLst>
          </p:cNvPr>
          <p:cNvSpPr txBox="1"/>
          <p:nvPr/>
        </p:nvSpPr>
        <p:spPr>
          <a:xfrm>
            <a:off x="567523" y="6014310"/>
            <a:ext cx="110569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유적의 스위치에 같은 색상의 열쇠를 올려 놓아야 한다</a:t>
            </a:r>
            <a:r>
              <a:rPr lang="en-US" altLang="ko-KR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1EDC777-9A1E-F681-75D0-947D44B180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809" y="3013010"/>
            <a:ext cx="4820971" cy="2424242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02E86C63-F837-B047-4C68-9126DEAB85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352" y="3008890"/>
            <a:ext cx="4817949" cy="2424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443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16553-E533-F3E4-CD16-56D08E4A4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13A3A8B-33B6-4D93-DC1A-F99462E8FF3E}"/>
              </a:ext>
            </a:extLst>
          </p:cNvPr>
          <p:cNvSpPr txBox="1"/>
          <p:nvPr/>
        </p:nvSpPr>
        <p:spPr>
          <a:xfrm>
            <a:off x="3672395" y="745724"/>
            <a:ext cx="479394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2. </a:t>
            </a:r>
            <a:r>
              <a:rPr lang="ko-KR" altLang="en-US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유적 입구</a:t>
            </a:r>
            <a:endParaRPr lang="ko-KR" altLang="en-US" sz="5000" b="1" dirty="0">
              <a:solidFill>
                <a:schemeClr val="bg1"/>
              </a:solidFill>
              <a:latin typeface="Cambria Math" panose="020405030504060302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31D0F5D-F2B6-0864-EEF6-FB580FB5CC45}"/>
              </a:ext>
            </a:extLst>
          </p:cNvPr>
          <p:cNvSpPr txBox="1"/>
          <p:nvPr/>
        </p:nvSpPr>
        <p:spPr>
          <a:xfrm>
            <a:off x="643815" y="5924054"/>
            <a:ext cx="110569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주인공의 기억과 가상 공간이 혼재되어 있는 장소 </a:t>
            </a:r>
            <a:endParaRPr lang="en-US" altLang="ko-KR" sz="3000" b="1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7DC2755-5E39-5BA3-A495-F7E28C65B5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4574" y="2016435"/>
            <a:ext cx="6909786" cy="3498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7058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0233D-2B91-4527-8CA2-5B86B9D8B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729FBC6-B69E-5EA0-18BE-C6651582A778}"/>
              </a:ext>
            </a:extLst>
          </p:cNvPr>
          <p:cNvSpPr txBox="1"/>
          <p:nvPr/>
        </p:nvSpPr>
        <p:spPr>
          <a:xfrm>
            <a:off x="3672395" y="745724"/>
            <a:ext cx="479394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2. </a:t>
            </a:r>
            <a:r>
              <a:rPr lang="ko-KR" altLang="en-US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유적 입구</a:t>
            </a:r>
            <a:endParaRPr lang="ko-KR" altLang="en-US" sz="5000" b="1" dirty="0">
              <a:solidFill>
                <a:schemeClr val="bg1"/>
              </a:solidFill>
              <a:latin typeface="Cambria Math" panose="020405030504060302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88157A3-1A1B-D43A-7193-834A794AFA28}"/>
              </a:ext>
            </a:extLst>
          </p:cNvPr>
          <p:cNvSpPr txBox="1"/>
          <p:nvPr/>
        </p:nvSpPr>
        <p:spPr>
          <a:xfrm>
            <a:off x="643815" y="5924054"/>
            <a:ext cx="110569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캠프 </a:t>
            </a:r>
            <a:r>
              <a:rPr lang="en-US" altLang="ko-KR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: </a:t>
            </a:r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해당 게임의 체크포인트 역할</a:t>
            </a:r>
            <a:endParaRPr lang="en-US" altLang="ko-KR" sz="3000" b="1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F875E45-5F2E-0290-A098-9C6C2DC74C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4574" y="2016435"/>
            <a:ext cx="6909786" cy="3498681"/>
          </a:xfrm>
          <a:prstGeom prst="rect">
            <a:avLst/>
          </a:prstGeom>
        </p:spPr>
      </p:pic>
      <p:sp>
        <p:nvSpPr>
          <p:cNvPr id="4" name="타원 3">
            <a:extLst>
              <a:ext uri="{FF2B5EF4-FFF2-40B4-BE49-F238E27FC236}">
                <a16:creationId xmlns:a16="http://schemas.microsoft.com/office/drawing/2014/main" id="{96FB53DA-E037-DCAE-5069-12368F26F0C5}"/>
              </a:ext>
            </a:extLst>
          </p:cNvPr>
          <p:cNvSpPr/>
          <p:nvPr/>
        </p:nvSpPr>
        <p:spPr>
          <a:xfrm>
            <a:off x="3426781" y="2601440"/>
            <a:ext cx="1997475" cy="2024109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44231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50631-EA56-97C4-88D6-A7A2797EF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BB92795-52D2-7EDD-8A9F-5C38D8FF93EE}"/>
              </a:ext>
            </a:extLst>
          </p:cNvPr>
          <p:cNvSpPr txBox="1"/>
          <p:nvPr/>
        </p:nvSpPr>
        <p:spPr>
          <a:xfrm>
            <a:off x="3672395" y="745724"/>
            <a:ext cx="479394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2. </a:t>
            </a:r>
            <a:r>
              <a:rPr lang="ko-KR" altLang="en-US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유적 입구</a:t>
            </a:r>
            <a:endParaRPr lang="ko-KR" altLang="en-US" sz="5000" b="1" dirty="0">
              <a:solidFill>
                <a:schemeClr val="bg1"/>
              </a:solidFill>
              <a:latin typeface="Cambria Math" panose="020405030504060302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DC3EDA-F7AE-FF4B-8DC9-6084C77BAE43}"/>
              </a:ext>
            </a:extLst>
          </p:cNvPr>
          <p:cNvSpPr txBox="1"/>
          <p:nvPr/>
        </p:nvSpPr>
        <p:spPr>
          <a:xfrm>
            <a:off x="567523" y="5604444"/>
            <a:ext cx="1105695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NPC</a:t>
            </a:r>
          </a:p>
          <a:p>
            <a:pPr algn="ctr"/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모티브 </a:t>
            </a:r>
            <a:r>
              <a:rPr lang="en-US" altLang="ko-KR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: </a:t>
            </a:r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뒷산 계곡에서 올챙이를 채집해서 키운 추억</a:t>
            </a:r>
            <a:endParaRPr lang="en-US" altLang="ko-KR" sz="3000" b="1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540581E-6B1A-1434-15C2-BF330AB1F4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0018" y="2036121"/>
            <a:ext cx="6538696" cy="3310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82061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56505-83F0-DF42-653E-648D4EAFE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FB99D5D-BA67-75B5-B6AE-9DA6F5E4FE46}"/>
              </a:ext>
            </a:extLst>
          </p:cNvPr>
          <p:cNvSpPr txBox="1"/>
          <p:nvPr/>
        </p:nvSpPr>
        <p:spPr>
          <a:xfrm>
            <a:off x="3672395" y="745724"/>
            <a:ext cx="479394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2. </a:t>
            </a:r>
            <a:r>
              <a:rPr lang="ko-KR" altLang="en-US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유적 입구</a:t>
            </a:r>
            <a:endParaRPr lang="ko-KR" altLang="en-US" sz="5000" b="1" dirty="0">
              <a:solidFill>
                <a:schemeClr val="bg1"/>
              </a:solidFill>
              <a:latin typeface="Cambria Math" panose="020405030504060302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12E3E49-E2DE-45A4-BF2C-9E2D209F6BA9}"/>
              </a:ext>
            </a:extLst>
          </p:cNvPr>
          <p:cNvSpPr txBox="1"/>
          <p:nvPr/>
        </p:nvSpPr>
        <p:spPr>
          <a:xfrm>
            <a:off x="567523" y="5719869"/>
            <a:ext cx="1105695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미니게임</a:t>
            </a:r>
            <a:endParaRPr lang="en-US" altLang="ko-KR" sz="3000" b="1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  <a:p>
            <a:pPr algn="ctr"/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퍼즐 모티브 </a:t>
            </a:r>
            <a:r>
              <a:rPr lang="en-US" altLang="ko-KR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: </a:t>
            </a:r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어렸을 때 했던 게임 </a:t>
            </a:r>
            <a:r>
              <a:rPr lang="en-US" altLang="ko-KR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(</a:t>
            </a:r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플래시 게임</a:t>
            </a:r>
            <a:r>
              <a:rPr lang="en-US" altLang="ko-KR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, </a:t>
            </a:r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레이튼 교수</a:t>
            </a:r>
            <a:r>
              <a:rPr lang="en-US" altLang="ko-KR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)</a:t>
            </a:r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</a:t>
            </a:r>
            <a:endParaRPr lang="en-US" altLang="ko-KR" sz="3000" b="1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6A9A941-3FC5-0767-323D-4CAEF6143B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847" y="1821483"/>
            <a:ext cx="7327037" cy="368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48078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C07E1-E8A3-1E4F-6488-BC34937DD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1780173-9090-7BEA-61BA-8A0EC625719F}"/>
              </a:ext>
            </a:extLst>
          </p:cNvPr>
          <p:cNvSpPr txBox="1"/>
          <p:nvPr/>
        </p:nvSpPr>
        <p:spPr>
          <a:xfrm>
            <a:off x="3672395" y="745724"/>
            <a:ext cx="479394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3. </a:t>
            </a:r>
            <a:r>
              <a:rPr lang="ko-KR" altLang="en-US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유적 내부</a:t>
            </a:r>
            <a:endParaRPr lang="ko-KR" altLang="en-US" sz="5000" b="1" dirty="0">
              <a:solidFill>
                <a:schemeClr val="bg1"/>
              </a:solidFill>
              <a:latin typeface="Cambria Math" panose="020405030504060302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6C3E19-79D4-9F39-F657-FCFEF4B17016}"/>
              </a:ext>
            </a:extLst>
          </p:cNvPr>
          <p:cNvSpPr txBox="1"/>
          <p:nvPr/>
        </p:nvSpPr>
        <p:spPr>
          <a:xfrm>
            <a:off x="540889" y="6199263"/>
            <a:ext cx="110569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앞으로 진행하기 위해서는 벽을 움직여서 진행해야 한다</a:t>
            </a:r>
            <a:r>
              <a:rPr lang="en-US" altLang="ko-KR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20010F6-53D5-3D9A-1D43-52D552A181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607" y="1814249"/>
            <a:ext cx="7282649" cy="3655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16344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9F831-A28C-C919-4501-8335495A1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162C11-A922-A07A-FBDB-4B9B6E3A1B1E}"/>
              </a:ext>
            </a:extLst>
          </p:cNvPr>
          <p:cNvSpPr txBox="1"/>
          <p:nvPr/>
        </p:nvSpPr>
        <p:spPr>
          <a:xfrm>
            <a:off x="3672395" y="745724"/>
            <a:ext cx="479394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3. </a:t>
            </a:r>
            <a:r>
              <a:rPr lang="ko-KR" altLang="en-US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유적 내부</a:t>
            </a:r>
            <a:endParaRPr lang="ko-KR" altLang="en-US" sz="5000" b="1" dirty="0">
              <a:solidFill>
                <a:schemeClr val="bg1"/>
              </a:solidFill>
              <a:latin typeface="Cambria Math" panose="020405030504060302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2A03A1-F77F-0F62-4D52-1CCD4ABD386C}"/>
              </a:ext>
            </a:extLst>
          </p:cNvPr>
          <p:cNvSpPr txBox="1"/>
          <p:nvPr/>
        </p:nvSpPr>
        <p:spPr>
          <a:xfrm>
            <a:off x="540889" y="5941810"/>
            <a:ext cx="110569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레버 조작을 통해 유적을 움직일 수 있다</a:t>
            </a:r>
            <a:r>
              <a:rPr lang="en-US" altLang="ko-KR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.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930C0DD-E8FC-E3FE-E669-DF4E806142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5699" y="1852559"/>
            <a:ext cx="7044433" cy="351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98941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6BB2E-5AFF-399F-AEE0-E3F0BF3F0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69C99EB-8877-81DF-E7E7-6ED46AAD011C}"/>
              </a:ext>
            </a:extLst>
          </p:cNvPr>
          <p:cNvSpPr txBox="1"/>
          <p:nvPr/>
        </p:nvSpPr>
        <p:spPr>
          <a:xfrm>
            <a:off x="3147132" y="719091"/>
            <a:ext cx="584446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4. </a:t>
            </a:r>
            <a:r>
              <a:rPr lang="ko-KR" altLang="en-US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향후 계획</a:t>
            </a:r>
            <a:endParaRPr lang="ko-KR" altLang="en-US" sz="5000" b="1" dirty="0">
              <a:solidFill>
                <a:schemeClr val="bg1"/>
              </a:solidFill>
              <a:latin typeface="Cambria Math" panose="020405030504060302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E1DA34-1571-8480-3A27-D8C675905A0A}"/>
              </a:ext>
            </a:extLst>
          </p:cNvPr>
          <p:cNvSpPr txBox="1"/>
          <p:nvPr/>
        </p:nvSpPr>
        <p:spPr>
          <a:xfrm>
            <a:off x="1162325" y="2124412"/>
            <a:ext cx="154536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기획</a:t>
            </a:r>
            <a:endParaRPr lang="en-US" altLang="ko-KR" sz="3000" b="1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1C14F-2548-28BD-1E42-66D5E30C425C}"/>
              </a:ext>
            </a:extLst>
          </p:cNvPr>
          <p:cNvSpPr txBox="1"/>
          <p:nvPr/>
        </p:nvSpPr>
        <p:spPr>
          <a:xfrm>
            <a:off x="3147132" y="2124412"/>
            <a:ext cx="888654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기획 수정 및 기획서 내용과 차이점 체크</a:t>
            </a:r>
            <a:endParaRPr lang="en-US" altLang="ko-KR" sz="3000" b="1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A454E1-9380-E2A0-A61B-627BDA67FD73}"/>
              </a:ext>
            </a:extLst>
          </p:cNvPr>
          <p:cNvSpPr txBox="1"/>
          <p:nvPr/>
        </p:nvSpPr>
        <p:spPr>
          <a:xfrm>
            <a:off x="1135690" y="2875002"/>
            <a:ext cx="154536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b="1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배경</a:t>
            </a:r>
            <a:endParaRPr lang="en-US" altLang="ko-KR" sz="3000" b="1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B02CA6-D455-CF06-ED60-987ABA825EAA}"/>
              </a:ext>
            </a:extLst>
          </p:cNvPr>
          <p:cNvSpPr txBox="1"/>
          <p:nvPr/>
        </p:nvSpPr>
        <p:spPr>
          <a:xfrm>
            <a:off x="3147132" y="2875002"/>
            <a:ext cx="888654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 </a:t>
            </a:r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스테이지 작업 경험 기반 </a:t>
            </a:r>
            <a:r>
              <a:rPr lang="en-US" altLang="ko-KR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2, 3, 4 </a:t>
            </a:r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스테이지 배경 작업</a:t>
            </a:r>
            <a:endParaRPr lang="en-US" altLang="ko-KR" sz="3000" b="1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C76709-367D-F710-1725-5696EA1D150D}"/>
              </a:ext>
            </a:extLst>
          </p:cNvPr>
          <p:cNvSpPr txBox="1"/>
          <p:nvPr/>
        </p:nvSpPr>
        <p:spPr>
          <a:xfrm>
            <a:off x="851602" y="3625593"/>
            <a:ext cx="211353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프로그래밍</a:t>
            </a:r>
            <a:endParaRPr lang="en-US" altLang="ko-KR" sz="3000" b="1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6CC2F8-AA42-EF52-3E73-1B6E38CFB738}"/>
              </a:ext>
            </a:extLst>
          </p:cNvPr>
          <p:cNvSpPr txBox="1"/>
          <p:nvPr/>
        </p:nvSpPr>
        <p:spPr>
          <a:xfrm>
            <a:off x="3147132" y="3639959"/>
            <a:ext cx="888654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미구현 미니게임 및 스테이지 간 연결 작업</a:t>
            </a:r>
            <a:endParaRPr lang="en-US" altLang="ko-KR" sz="3000" b="1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B1D411-5C2E-8368-6ABF-C430ED16ACAF}"/>
              </a:ext>
            </a:extLst>
          </p:cNvPr>
          <p:cNvSpPr txBox="1"/>
          <p:nvPr/>
        </p:nvSpPr>
        <p:spPr>
          <a:xfrm>
            <a:off x="851602" y="4376183"/>
            <a:ext cx="211353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캐릭터</a:t>
            </a:r>
            <a:endParaRPr lang="en-US" altLang="ko-KR" sz="3000" b="1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B32C32-738A-649C-65CD-F4B8A437A6EA}"/>
              </a:ext>
            </a:extLst>
          </p:cNvPr>
          <p:cNvSpPr txBox="1"/>
          <p:nvPr/>
        </p:nvSpPr>
        <p:spPr>
          <a:xfrm>
            <a:off x="3147132" y="4376183"/>
            <a:ext cx="888654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리깅 및 </a:t>
            </a:r>
            <a:r>
              <a:rPr lang="en-US" altLang="ko-KR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NPC </a:t>
            </a:r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제작 </a:t>
            </a:r>
            <a:endParaRPr lang="en-US" altLang="ko-KR" sz="3000" b="1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FE80EF-B40A-FFDA-41FA-B59445951A46}"/>
              </a:ext>
            </a:extLst>
          </p:cNvPr>
          <p:cNvSpPr txBox="1"/>
          <p:nvPr/>
        </p:nvSpPr>
        <p:spPr>
          <a:xfrm>
            <a:off x="878237" y="5126773"/>
            <a:ext cx="211353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원화</a:t>
            </a:r>
            <a:endParaRPr lang="en-US" altLang="ko-KR" sz="3000" b="1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AC70BD-B8EB-6448-C5D0-F27383FF46D0}"/>
              </a:ext>
            </a:extLst>
          </p:cNvPr>
          <p:cNvSpPr txBox="1"/>
          <p:nvPr/>
        </p:nvSpPr>
        <p:spPr>
          <a:xfrm>
            <a:off x="3147132" y="5046874"/>
            <a:ext cx="888654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UI </a:t>
            </a:r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및 컷씬 구상</a:t>
            </a:r>
            <a:endParaRPr lang="en-US" altLang="ko-KR" sz="3000" b="1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749098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33BD1-F046-5C56-3F55-B4541910E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85508596-41EB-0816-99D5-52FA488682AA}"/>
              </a:ext>
            </a:extLst>
          </p:cNvPr>
          <p:cNvSpPr txBox="1"/>
          <p:nvPr/>
        </p:nvSpPr>
        <p:spPr>
          <a:xfrm>
            <a:off x="1504763" y="2561126"/>
            <a:ext cx="888654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0" b="1" dirty="0">
                <a:solidFill>
                  <a:schemeClr val="bg1"/>
                </a:solidFill>
                <a:latin typeface="MV Boli" panose="02000500030200090000" pitchFamily="2" charset="0"/>
                <a:ea typeface="휴먼둥근헤드라인" panose="02030504000101010101" pitchFamily="18" charset="-127"/>
                <a:cs typeface="MV Boli" panose="02000500030200090000" pitchFamily="2" charset="0"/>
              </a:rPr>
              <a:t>QnA</a:t>
            </a:r>
          </a:p>
        </p:txBody>
      </p:sp>
    </p:spTree>
    <p:extLst>
      <p:ext uri="{BB962C8B-B14F-4D97-AF65-F5344CB8AC3E}">
        <p14:creationId xmlns:p14="http://schemas.microsoft.com/office/powerpoint/2010/main" val="23874090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214</Words>
  <Application>Microsoft Office PowerPoint</Application>
  <PresentationFormat>와이드스크린</PresentationFormat>
  <Paragraphs>44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0" baseType="lpstr">
      <vt:lpstr>Noto Sans KR Black</vt:lpstr>
      <vt:lpstr>맑은 고딕</vt:lpstr>
      <vt:lpstr>Arial</vt:lpstr>
      <vt:lpstr>Cambria Math</vt:lpstr>
      <vt:lpstr>MV Boli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 SO</dc:creator>
  <cp:lastModifiedBy>HA SO</cp:lastModifiedBy>
  <cp:revision>18</cp:revision>
  <dcterms:created xsi:type="dcterms:W3CDTF">2026-05-05T14:59:17Z</dcterms:created>
  <dcterms:modified xsi:type="dcterms:W3CDTF">2026-05-06T03:57:38Z</dcterms:modified>
</cp:coreProperties>
</file>
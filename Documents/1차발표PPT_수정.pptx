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73" r:id="rId6"/>
    <p:sldId id="265" r:id="rId7"/>
    <p:sldId id="262" r:id="rId8"/>
    <p:sldId id="274" r:id="rId9"/>
    <p:sldId id="268" r:id="rId10"/>
    <p:sldId id="269" r:id="rId11"/>
    <p:sldId id="263" r:id="rId12"/>
    <p:sldId id="270" r:id="rId13"/>
    <p:sldId id="272" r:id="rId14"/>
    <p:sldId id="275" r:id="rId15"/>
  </p:sldIdLst>
  <p:sldSz cx="12192000" cy="6858000"/>
  <p:notesSz cx="6858000" cy="9144000"/>
  <p:embeddedFontLst>
    <p:embeddedFont>
      <p:font typeface="DX시인과나" panose="02020600000000000000" pitchFamily="18" charset="-127"/>
      <p:regular r:id="rId17"/>
    </p:embeddedFont>
    <p:embeddedFont>
      <p:font typeface="Pretendard ExtraBold" panose="02000903000000020004" pitchFamily="50" charset="-127"/>
      <p:bold r:id="rId18"/>
    </p:embeddedFont>
    <p:embeddedFont>
      <p:font typeface="Pretendard Light" panose="02000403000000020004" pitchFamily="50" charset="-127"/>
      <p:regular r:id="rId19"/>
    </p:embeddedFont>
    <p:embeddedFont>
      <p:font typeface="맑은 고딕" panose="020B0503020000020004" pitchFamily="50" charset="-127"/>
      <p:regular r:id="rId20"/>
      <p:bold r:id="rId21"/>
    </p:embeddedFont>
    <p:embeddedFont>
      <p:font typeface="Book Antiqua" panose="02040602050305030304" pitchFamily="18" charset="0"/>
      <p:regular r:id="rId22"/>
      <p:bold r:id="rId23"/>
      <p:italic r:id="rId24"/>
      <p:boldItalic r:id="rId25"/>
    </p:embeddedFont>
    <p:embeddedFont>
      <p:font typeface="Garamond" panose="02020404030301010803" pitchFamily="18" charset="0"/>
      <p:regular r:id="rId26"/>
      <p:bold r:id="rId27"/>
      <p:italic r:id="rId28"/>
    </p:embeddedFont>
    <p:embeddedFont>
      <p:font typeface="NewYork" panose="02000503000000020004" pitchFamily="50" charset="0"/>
      <p:regular r:id="rId29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4D3B6BDC-A765-40E3-80BF-C2BA67FEA7FC}">
          <p14:sldIdLst>
            <p14:sldId id="256"/>
            <p14:sldId id="257"/>
            <p14:sldId id="258"/>
            <p14:sldId id="259"/>
            <p14:sldId id="273"/>
            <p14:sldId id="265"/>
            <p14:sldId id="262"/>
            <p14:sldId id="274"/>
            <p14:sldId id="268"/>
            <p14:sldId id="269"/>
            <p14:sldId id="263"/>
            <p14:sldId id="270"/>
            <p14:sldId id="272"/>
            <p14:sldId id="27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1E6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45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29" Type="http://schemas.openxmlformats.org/officeDocument/2006/relationships/font" Target="fonts/font1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font" Target="fonts/font12.fntdata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font" Target="fonts/font11.fntdata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C71541-1E66-48E9-82A7-6CB1BF1DDDCB}" type="datetimeFigureOut">
              <a:rPr lang="ko-KR" altLang="en-US" smtClean="0"/>
              <a:t>2026-05-06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F4EA508-866C-4022-BF17-6903176E1B5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68114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4EA508-866C-4022-BF17-6903176E1B57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99361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4177C6DE-8E7B-01E4-7926-21D0E1804DD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37320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8D02AEA-6022-E5C2-E030-8207987ECA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B2F320E-3031-E5E9-F844-24A424F810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7A84530-83B6-A2A2-051F-F99D4C0734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D5FB2B-8AC3-4798-AE12-B6450F17ACC8}" type="datetimeFigureOut">
              <a:rPr lang="ko-KR" altLang="en-US" smtClean="0"/>
              <a:t>2026-05-06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F709F65-8E7C-A284-C647-92E7566614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08A687B-AC08-7797-5405-0764253490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A7CE1-FECF-44E1-AD75-9191151152C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5334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99A5AD-D74A-434C-0F7F-0432E00C84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AE599AA-2584-C9FC-6261-1861CD8708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335A44D-A983-68D5-86A5-CC0F92FEC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D5FB2B-8AC3-4798-AE12-B6450F17ACC8}" type="datetimeFigureOut">
              <a:rPr lang="ko-KR" altLang="en-US" smtClean="0"/>
              <a:t>2026-05-06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F05BBD3-76BB-8CD1-5E0E-0911638393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2ED11BA-5899-6CDC-C5B9-ABE32C6E42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A7CE1-FECF-44E1-AD75-9191151152C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52334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DD7A4F-4615-406A-0620-C3482440E4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1C21996-1687-146E-6BCA-914388D1B5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E599764-A02D-762D-ACC8-EBC76E1CEB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9E2FFF7-1043-3792-6FE8-44871130B5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D5FB2B-8AC3-4798-AE12-B6450F17ACC8}" type="datetimeFigureOut">
              <a:rPr lang="ko-KR" altLang="en-US" smtClean="0"/>
              <a:t>2026-05-06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8D5BD66-A12E-6BD0-7BEF-B6EC0706CA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B44167D-59C9-5F78-6BFB-857EE0348C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A7CE1-FECF-44E1-AD75-9191151152C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46582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C24567-FEA6-4907-D7B6-46A8C6627C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F131D19-B63B-A197-C9A5-BB6F83AE76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4C22EED-F1D2-20B9-6D46-E94BABBB48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CD49430-AECB-05CB-2CB3-CAEF413D4BB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D3C24176-C90E-23FD-AA5C-CAAB42382BB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A5DC8A1C-260F-70EB-B52D-E5BB118E65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D5FB2B-8AC3-4798-AE12-B6450F17ACC8}" type="datetimeFigureOut">
              <a:rPr lang="ko-KR" altLang="en-US" smtClean="0"/>
              <a:t>2026-05-06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69B32A12-5C8B-7BF7-BC4E-45D9DC5118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421DAD3-6FF2-974F-E967-6899CE8520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A7CE1-FECF-44E1-AD75-9191151152C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698618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5D9BD7-CDF5-BF43-A449-504216F9C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53960402-C0B4-8674-D330-FFE2748688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D5FB2B-8AC3-4798-AE12-B6450F17ACC8}" type="datetimeFigureOut">
              <a:rPr lang="ko-KR" altLang="en-US" smtClean="0"/>
              <a:t>2026-05-06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650FABF-244E-15B5-7AB9-9859B6F6A5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018B220-08D3-605B-3C43-F8080DADD5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A7CE1-FECF-44E1-AD75-9191151152C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077396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1272D096-2266-1B75-E3BA-1E55DEB9DE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D5FB2B-8AC3-4798-AE12-B6450F17ACC8}" type="datetimeFigureOut">
              <a:rPr lang="ko-KR" altLang="en-US" smtClean="0"/>
              <a:t>2026-05-06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FAB02928-884A-D301-AA95-71EFDB6851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0C15A83-196E-044D-0843-52129322E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A7CE1-FECF-44E1-AD75-9191151152C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384642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05F6660-658B-60A1-7D49-82E537EFD2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310DFAB-9E6E-921C-F054-B85BB33FDE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755D152-5282-B552-E6F5-92AEF715FF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C7AEAA1-1A31-F526-4B8D-A27874A6DB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D5FB2B-8AC3-4798-AE12-B6450F17ACC8}" type="datetimeFigureOut">
              <a:rPr lang="ko-KR" altLang="en-US" smtClean="0"/>
              <a:t>2026-05-06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A073AAF-032B-9974-7CF4-DB60C0D588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4AB3713-45CF-F904-4459-3E726A8A4B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A7CE1-FECF-44E1-AD75-9191151152C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8079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9931CF-94CB-76FD-5DD7-654634A4D1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48EC6E81-8DF7-0CF0-1FAB-090F2AADED5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506E558-1E97-5EE9-0A31-D43DC6441C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DE01454-43CB-AE91-53C3-6FD69D2A37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D5FB2B-8AC3-4798-AE12-B6450F17ACC8}" type="datetimeFigureOut">
              <a:rPr lang="ko-KR" altLang="en-US" smtClean="0"/>
              <a:t>2026-05-06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D80F0F3-2FFC-3D39-AAEC-104F8B9E2D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D71A21C-0E73-C774-136B-3EF19FC515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A7CE1-FECF-44E1-AD75-9191151152C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35500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FB7207E-2F66-4291-E50B-3EB2A2FF96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06E52D9-7C72-F8C9-0D89-70A455F061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DF13C43-02FE-5022-409F-692016F24A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D5FB2B-8AC3-4798-AE12-B6450F17ACC8}" type="datetimeFigureOut">
              <a:rPr lang="ko-KR" altLang="en-US" smtClean="0"/>
              <a:t>2026-05-06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00128D0-36BA-DEEE-04C3-72D3319F01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E32B338-4CA3-4AD3-E0A1-081A56FEA1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A7CE1-FECF-44E1-AD75-9191151152C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602627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48D8BF3B-ABBA-0844-942A-A9666F699DC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D28A064-C92D-8F67-D0C7-D091EDE83D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5A71668-E41A-7934-5837-5197D3187A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D5FB2B-8AC3-4798-AE12-B6450F17ACC8}" type="datetimeFigureOut">
              <a:rPr lang="ko-KR" altLang="en-US" smtClean="0"/>
              <a:t>2026-05-06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AC73CBF-E2E3-5F7F-BE29-CB4232602C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D127AE7-47DE-C049-0384-E8D94E2923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A7CE1-FECF-44E1-AD75-9191151152C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509967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269FC81-81F3-611A-D619-720A2FA39A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ADCD955-D94F-1D22-741F-EB4672A287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86B8819-C7A1-FAA2-045F-6223AFA2D4A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D5FB2B-8AC3-4798-AE12-B6450F17ACC8}" type="datetimeFigureOut">
              <a:rPr lang="ko-KR" altLang="en-US" smtClean="0"/>
              <a:t>2026-05-06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87BFDAB-5215-CD11-2612-15B891A5EE6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36F888B-A134-FE2C-AF0D-424C2EBB2E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2A7CE1-FECF-44E1-AD75-9191151152C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632510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D7BEEB1D-F974-D400-C1EB-D2A44A6550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34597" y="1924883"/>
            <a:ext cx="5322806" cy="243503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8452A9C-E59D-6FE7-6F5B-6B18612216C4}"/>
              </a:ext>
            </a:extLst>
          </p:cNvPr>
          <p:cNvSpPr txBox="1"/>
          <p:nvPr/>
        </p:nvSpPr>
        <p:spPr>
          <a:xfrm>
            <a:off x="3699029" y="4571999"/>
            <a:ext cx="4793942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500" b="1" dirty="0">
                <a:solidFill>
                  <a:srgbClr val="F1E6BF"/>
                </a:solidFill>
                <a:latin typeface="Garamond" panose="02020404030301010803" pitchFamily="18" charset="0"/>
                <a:ea typeface="Cambria Math" panose="02040503050406030204" pitchFamily="18" charset="0"/>
              </a:rPr>
              <a:t>Team Cube</a:t>
            </a:r>
            <a:endParaRPr lang="ko-KR" altLang="en-US" sz="2500" b="1" dirty="0">
              <a:solidFill>
                <a:srgbClr val="F1E6BF"/>
              </a:solidFill>
              <a:latin typeface="Garamond" panose="020204040303010108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26698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58FCFA-F238-A7D1-03F7-EA13149755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D9BD15F-57AA-3EA8-0462-B8DC83FF4453}"/>
              </a:ext>
            </a:extLst>
          </p:cNvPr>
          <p:cNvSpPr txBox="1"/>
          <p:nvPr/>
        </p:nvSpPr>
        <p:spPr>
          <a:xfrm>
            <a:off x="3672395" y="1358283"/>
            <a:ext cx="4793942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5000" b="1" dirty="0">
                <a:solidFill>
                  <a:srgbClr val="F1E6BF"/>
                </a:solidFill>
                <a:latin typeface="Book Antiqua" panose="02040602050305030304" pitchFamily="18" charset="0"/>
                <a:ea typeface="Cambria Math" panose="02040503050406030204" pitchFamily="18" charset="0"/>
              </a:rPr>
              <a:t>Team Cube</a:t>
            </a:r>
            <a:endParaRPr lang="ko-KR" altLang="en-US" sz="5000" b="1" dirty="0">
              <a:solidFill>
                <a:srgbClr val="F1E6BF"/>
              </a:solidFill>
              <a:latin typeface="Book Antiqua" panose="0204060205030503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693BFA9-FE16-C744-67CD-29C0E2CB18E1}"/>
              </a:ext>
            </a:extLst>
          </p:cNvPr>
          <p:cNvSpPr txBox="1"/>
          <p:nvPr/>
        </p:nvSpPr>
        <p:spPr>
          <a:xfrm>
            <a:off x="3161189" y="2656541"/>
            <a:ext cx="6169241" cy="22722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ko-KR" altLang="en-US" sz="2400" b="1" dirty="0">
                <a:solidFill>
                  <a:schemeClr val="bg1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기획 </a:t>
            </a:r>
            <a:r>
              <a:rPr lang="en-US" altLang="ko-KR" sz="2400" b="1" dirty="0">
                <a:solidFill>
                  <a:schemeClr val="bg1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ko-KR" altLang="en-US" sz="2400" b="1" dirty="0">
                <a:solidFill>
                  <a:schemeClr val="bg1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허진서</a:t>
            </a:r>
            <a:endParaRPr lang="en-US" altLang="ko-KR" sz="2400" b="1" dirty="0">
              <a:solidFill>
                <a:schemeClr val="bg1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pPr algn="just">
              <a:lnSpc>
                <a:spcPct val="120000"/>
              </a:lnSpc>
            </a:pPr>
            <a:r>
              <a:rPr lang="ko-KR" altLang="en-US" sz="2400" b="1" dirty="0">
                <a:solidFill>
                  <a:schemeClr val="bg1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프로그래밍 </a:t>
            </a:r>
            <a:r>
              <a:rPr lang="en-US" altLang="ko-KR" sz="2400" b="1" dirty="0">
                <a:solidFill>
                  <a:schemeClr val="bg1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ko-KR" altLang="en-US" sz="2400" b="1" dirty="0">
                <a:solidFill>
                  <a:schemeClr val="bg1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이진우</a:t>
            </a:r>
            <a:r>
              <a:rPr lang="en-US" altLang="ko-KR" sz="2400" b="1" dirty="0">
                <a:solidFill>
                  <a:schemeClr val="bg1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2400" b="1" dirty="0">
                <a:solidFill>
                  <a:schemeClr val="bg1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박금서</a:t>
            </a:r>
            <a:endParaRPr lang="en-US" altLang="ko-KR" sz="2400" b="1" dirty="0">
              <a:solidFill>
                <a:schemeClr val="bg1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pPr algn="just">
              <a:lnSpc>
                <a:spcPct val="120000"/>
              </a:lnSpc>
            </a:pPr>
            <a:r>
              <a:rPr lang="ko-KR" altLang="en-US" sz="2400" b="1" dirty="0">
                <a:solidFill>
                  <a:schemeClr val="bg1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원화 </a:t>
            </a:r>
            <a:r>
              <a:rPr lang="en-US" altLang="ko-KR" sz="2400" b="1" dirty="0">
                <a:solidFill>
                  <a:schemeClr val="bg1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ko-KR" altLang="en-US" sz="2400" b="1" dirty="0">
                <a:solidFill>
                  <a:schemeClr val="bg1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조서현</a:t>
            </a:r>
            <a:endParaRPr lang="en-US" altLang="ko-KR" sz="2400" b="1" dirty="0">
              <a:solidFill>
                <a:schemeClr val="bg1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pPr algn="just">
              <a:lnSpc>
                <a:spcPct val="12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3D </a:t>
            </a:r>
            <a:r>
              <a:rPr lang="ko-KR" altLang="en-US" sz="2400" b="1" dirty="0">
                <a:solidFill>
                  <a:schemeClr val="bg1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캐릭터 </a:t>
            </a:r>
            <a:r>
              <a:rPr lang="en-US" altLang="ko-KR" sz="2400" b="1" dirty="0">
                <a:solidFill>
                  <a:schemeClr val="bg1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ko-KR" altLang="en-US" sz="2400" b="1" dirty="0">
                <a:solidFill>
                  <a:schemeClr val="bg1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최지환</a:t>
            </a:r>
            <a:r>
              <a:rPr lang="en-US" altLang="ko-KR" sz="2400" b="1" dirty="0">
                <a:solidFill>
                  <a:schemeClr val="bg1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2400" b="1" dirty="0">
                <a:solidFill>
                  <a:schemeClr val="bg1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정수현</a:t>
            </a:r>
            <a:r>
              <a:rPr lang="en-US" altLang="ko-KR" sz="2400" b="1" dirty="0">
                <a:solidFill>
                  <a:schemeClr val="bg1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2400" b="1" dirty="0">
                <a:solidFill>
                  <a:schemeClr val="bg1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박이슬</a:t>
            </a:r>
            <a:endParaRPr lang="en-US" altLang="ko-KR" sz="2400" b="1" dirty="0">
              <a:solidFill>
                <a:schemeClr val="bg1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pPr algn="just">
              <a:lnSpc>
                <a:spcPct val="12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3D </a:t>
            </a:r>
            <a:r>
              <a:rPr lang="ko-KR" altLang="en-US" sz="2400" b="1" dirty="0">
                <a:solidFill>
                  <a:schemeClr val="bg1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배경 </a:t>
            </a:r>
            <a:r>
              <a:rPr lang="en-US" altLang="ko-KR" sz="2400" b="1" dirty="0">
                <a:solidFill>
                  <a:schemeClr val="bg1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ko-KR" altLang="en-US" sz="2400" b="1" dirty="0">
                <a:solidFill>
                  <a:schemeClr val="bg1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유태하</a:t>
            </a:r>
            <a:r>
              <a:rPr lang="en-US" altLang="ko-KR" sz="2400" b="1" dirty="0">
                <a:solidFill>
                  <a:schemeClr val="bg1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2400" b="1" dirty="0">
                <a:solidFill>
                  <a:schemeClr val="bg1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리련명 </a:t>
            </a:r>
          </a:p>
        </p:txBody>
      </p:sp>
    </p:spTree>
    <p:extLst>
      <p:ext uri="{BB962C8B-B14F-4D97-AF65-F5344CB8AC3E}">
        <p14:creationId xmlns:p14="http://schemas.microsoft.com/office/powerpoint/2010/main" val="33149608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0BBEEF-0C1F-E58C-DED8-2EC4F56831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7A6D8B8-42A5-58A8-D740-0A6BA46BCC04}"/>
              </a:ext>
            </a:extLst>
          </p:cNvPr>
          <p:cNvSpPr txBox="1"/>
          <p:nvPr/>
        </p:nvSpPr>
        <p:spPr>
          <a:xfrm>
            <a:off x="2830507" y="690239"/>
            <a:ext cx="653098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0" b="1" dirty="0">
                <a:solidFill>
                  <a:srgbClr val="F1E6BF"/>
                </a:solidFill>
                <a:latin typeface="Book Antiqua" panose="02040602050305030304" pitchFamily="18" charset="0"/>
                <a:ea typeface="Cambria Math" panose="02040503050406030204" pitchFamily="18" charset="0"/>
              </a:rPr>
              <a:t>Stage 1 Concept</a:t>
            </a:r>
            <a:endParaRPr lang="ko-KR" altLang="en-US" sz="4000" b="1" dirty="0">
              <a:solidFill>
                <a:srgbClr val="F1E6BF"/>
              </a:solidFill>
              <a:latin typeface="Book Antiqua" panose="0204060205030503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F0ACA90-A9E6-1B9E-B38A-1208B2242861}"/>
              </a:ext>
            </a:extLst>
          </p:cNvPr>
          <p:cNvSpPr txBox="1"/>
          <p:nvPr/>
        </p:nvSpPr>
        <p:spPr>
          <a:xfrm>
            <a:off x="2102723" y="5841615"/>
            <a:ext cx="76518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b="1" dirty="0">
                <a:solidFill>
                  <a:schemeClr val="bg1"/>
                </a:solidFill>
                <a:latin typeface="DX시인과나" panose="02020600000000000000" pitchFamily="18" charset="-127"/>
                <a:ea typeface="DX시인과나" panose="02020600000000000000" pitchFamily="18" charset="-127"/>
                <a:cs typeface="Pretendard Light" panose="02000403000000020004" pitchFamily="50" charset="-127"/>
              </a:rPr>
              <a:t>어렸을 때 호기심으로 모험한 뒷산 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EE66F318-D9BF-AC5C-2901-FDA751F920C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114"/>
          <a:stretch>
            <a:fillRect/>
          </a:stretch>
        </p:blipFill>
        <p:spPr>
          <a:xfrm>
            <a:off x="1935352" y="1604639"/>
            <a:ext cx="7986554" cy="3968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66843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7545D8-7056-5D97-D375-1CDF3BBC94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5806B31-CC53-E848-5200-F9D8D178A53F}"/>
              </a:ext>
            </a:extLst>
          </p:cNvPr>
          <p:cNvSpPr txBox="1"/>
          <p:nvPr/>
        </p:nvSpPr>
        <p:spPr>
          <a:xfrm>
            <a:off x="3672395" y="802661"/>
            <a:ext cx="47939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600" b="1" dirty="0">
                <a:solidFill>
                  <a:srgbClr val="F1E6BF"/>
                </a:solidFill>
                <a:latin typeface="DX시인과나" panose="02020600000000000000" pitchFamily="18" charset="-127"/>
                <a:ea typeface="DX시인과나" panose="02020600000000000000" pitchFamily="18" charset="-127"/>
              </a:rPr>
              <a:t>1. </a:t>
            </a:r>
            <a:r>
              <a:rPr lang="ko-KR" altLang="en-US" sz="3600" b="1" dirty="0">
                <a:solidFill>
                  <a:srgbClr val="F1E6BF"/>
                </a:solidFill>
                <a:latin typeface="DX시인과나" panose="02020600000000000000" pitchFamily="18" charset="-127"/>
                <a:ea typeface="DX시인과나" panose="02020600000000000000" pitchFamily="18" charset="-127"/>
              </a:rPr>
              <a:t>뒷산의 유적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95AD7893-FD56-748A-5974-B039B2C43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548" y="2060441"/>
            <a:ext cx="5460393" cy="2737117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76B7975B-9E08-D8A2-7E04-A6C1074F75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3061" y="2060441"/>
            <a:ext cx="5446688" cy="273711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20CC9B8-7D22-1B70-1F94-024171C5D192}"/>
              </a:ext>
            </a:extLst>
          </p:cNvPr>
          <p:cNvSpPr txBox="1"/>
          <p:nvPr/>
        </p:nvSpPr>
        <p:spPr>
          <a:xfrm>
            <a:off x="1686728" y="5409006"/>
            <a:ext cx="8504427" cy="14065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ko-KR" altLang="en-US" sz="2000" b="1" dirty="0">
                <a:solidFill>
                  <a:schemeClr val="bg1"/>
                </a:solidFill>
                <a:latin typeface="DX시인과나" panose="02020600000000000000" pitchFamily="18" charset="-127"/>
                <a:ea typeface="DX시인과나" panose="02020600000000000000" pitchFamily="18" charset="-127"/>
                <a:cs typeface="Pretendard Light" panose="02000403000000020004" pitchFamily="50" charset="-127"/>
              </a:rPr>
              <a:t>정신을 차리고 주위를 둘러보니 낯익은 광경이 보인다</a:t>
            </a:r>
            <a:r>
              <a:rPr lang="en-US" altLang="ko-KR" sz="2000" b="1" dirty="0">
                <a:solidFill>
                  <a:schemeClr val="bg1"/>
                </a:solidFill>
                <a:latin typeface="DX시인과나" panose="02020600000000000000" pitchFamily="18" charset="-127"/>
                <a:ea typeface="DX시인과나" panose="02020600000000000000" pitchFamily="18" charset="-127"/>
                <a:cs typeface="Pretendard Light" panose="02000403000000020004" pitchFamily="50" charset="-127"/>
              </a:rPr>
              <a:t>.</a:t>
            </a:r>
          </a:p>
          <a:p>
            <a:pPr algn="ctr">
              <a:lnSpc>
                <a:spcPct val="120000"/>
              </a:lnSpc>
            </a:pPr>
            <a:r>
              <a:rPr lang="ko-KR" altLang="en-US" sz="1600" b="1" dirty="0">
                <a:solidFill>
                  <a:schemeClr val="bg1"/>
                </a:solidFill>
                <a:latin typeface="DX시인과나" panose="02020600000000000000" pitchFamily="18" charset="-127"/>
                <a:ea typeface="DX시인과나" panose="02020600000000000000" pitchFamily="18" charset="-127"/>
              </a:rPr>
              <a:t>모티브 </a:t>
            </a:r>
            <a:r>
              <a:rPr lang="en-US" altLang="ko-KR" sz="1600" b="1" dirty="0">
                <a:solidFill>
                  <a:schemeClr val="bg1"/>
                </a:solidFill>
                <a:latin typeface="DX시인과나" panose="02020600000000000000" pitchFamily="18" charset="-127"/>
                <a:ea typeface="DX시인과나" panose="02020600000000000000" pitchFamily="18" charset="-127"/>
              </a:rPr>
              <a:t>: </a:t>
            </a:r>
            <a:r>
              <a:rPr lang="ko-KR" altLang="en-US" sz="1600" b="1" dirty="0">
                <a:solidFill>
                  <a:schemeClr val="bg1"/>
                </a:solidFill>
                <a:latin typeface="DX시인과나" panose="02020600000000000000" pitchFamily="18" charset="-127"/>
                <a:ea typeface="DX시인과나" panose="02020600000000000000" pitchFamily="18" charset="-127"/>
              </a:rPr>
              <a:t>어렸을 때 자주 갔던 뒷산의 모습 </a:t>
            </a:r>
            <a:r>
              <a:rPr lang="en-US" altLang="ko-KR" sz="1600" b="1" dirty="0">
                <a:solidFill>
                  <a:schemeClr val="bg1"/>
                </a:solidFill>
                <a:latin typeface="DX시인과나" panose="02020600000000000000" pitchFamily="18" charset="-127"/>
                <a:ea typeface="DX시인과나" panose="02020600000000000000" pitchFamily="18" charset="-127"/>
              </a:rPr>
              <a:t>+ </a:t>
            </a:r>
            <a:r>
              <a:rPr lang="ko-KR" altLang="en-US" sz="1600" b="1" dirty="0">
                <a:solidFill>
                  <a:schemeClr val="bg1"/>
                </a:solidFill>
                <a:latin typeface="DX시인과나" panose="02020600000000000000" pitchFamily="18" charset="-127"/>
                <a:ea typeface="DX시인과나" panose="02020600000000000000" pitchFamily="18" charset="-127"/>
              </a:rPr>
              <a:t>지역 유명한 관광명소</a:t>
            </a:r>
            <a:endParaRPr lang="en-US" altLang="ko-KR" sz="1600" b="1" dirty="0">
              <a:solidFill>
                <a:schemeClr val="bg1"/>
              </a:solidFill>
              <a:latin typeface="DX시인과나" panose="02020600000000000000" pitchFamily="18" charset="-127"/>
              <a:ea typeface="DX시인과나" panose="02020600000000000000" pitchFamily="18" charset="-127"/>
            </a:endParaRPr>
          </a:p>
          <a:p>
            <a:pPr algn="ctr">
              <a:lnSpc>
                <a:spcPct val="120000"/>
              </a:lnSpc>
            </a:pPr>
            <a:endParaRPr lang="en-US" altLang="ko-KR" sz="1600" b="1" dirty="0">
              <a:solidFill>
                <a:schemeClr val="bg1"/>
              </a:solidFill>
              <a:latin typeface="DX시인과나" panose="02020600000000000000" pitchFamily="18" charset="-127"/>
              <a:ea typeface="DX시인과나" panose="02020600000000000000" pitchFamily="18" charset="-127"/>
              <a:cs typeface="Pretendard Light" panose="02000403000000020004" pitchFamily="50" charset="-127"/>
            </a:endParaRPr>
          </a:p>
          <a:p>
            <a:pPr algn="ctr">
              <a:lnSpc>
                <a:spcPct val="120000"/>
              </a:lnSpc>
            </a:pPr>
            <a:endParaRPr lang="ko-KR" altLang="en-US" sz="2000" b="1" dirty="0">
              <a:solidFill>
                <a:schemeClr val="bg1"/>
              </a:solidFill>
              <a:latin typeface="DX시인과나" panose="02020600000000000000" pitchFamily="18" charset="-127"/>
              <a:ea typeface="DX시인과나" panose="02020600000000000000" pitchFamily="18" charset="-127"/>
              <a:cs typeface="Pretendard Light" panose="020004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537143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9CEBD3-29A8-52C8-AFA5-0E201988F1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30E008F-0012-C610-2556-2D7DA358DB81}"/>
              </a:ext>
            </a:extLst>
          </p:cNvPr>
          <p:cNvSpPr txBox="1"/>
          <p:nvPr/>
        </p:nvSpPr>
        <p:spPr>
          <a:xfrm>
            <a:off x="643815" y="5865090"/>
            <a:ext cx="110569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b="1" dirty="0">
                <a:solidFill>
                  <a:schemeClr val="bg1"/>
                </a:solidFill>
                <a:latin typeface="DX시인과나" panose="02020600000000000000" pitchFamily="18" charset="-127"/>
                <a:ea typeface="DX시인과나" panose="02020600000000000000" pitchFamily="18" charset="-127"/>
              </a:rPr>
              <a:t>유저가 특정 위치에 도달하면 화면 상단에 튜토리얼이 발생합니다</a:t>
            </a:r>
            <a:r>
              <a:rPr lang="en-US" altLang="ko-KR" sz="2000" b="1" dirty="0">
                <a:solidFill>
                  <a:schemeClr val="bg1"/>
                </a:solidFill>
                <a:latin typeface="DX시인과나" panose="02020600000000000000" pitchFamily="18" charset="-127"/>
                <a:ea typeface="DX시인과나" panose="02020600000000000000" pitchFamily="18" charset="-127"/>
              </a:rPr>
              <a:t>.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943EC0EB-E927-A5C3-63E3-DCDD7E0283D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166" r="561"/>
          <a:stretch>
            <a:fillRect/>
          </a:stretch>
        </p:blipFill>
        <p:spPr>
          <a:xfrm>
            <a:off x="2686975" y="1677879"/>
            <a:ext cx="6818050" cy="344184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31EFA99-E3A1-6880-538B-9187B81917FA}"/>
              </a:ext>
            </a:extLst>
          </p:cNvPr>
          <p:cNvSpPr txBox="1"/>
          <p:nvPr/>
        </p:nvSpPr>
        <p:spPr>
          <a:xfrm>
            <a:off x="1757749" y="5523187"/>
            <a:ext cx="85044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b="1" dirty="0">
                <a:solidFill>
                  <a:schemeClr val="bg1"/>
                </a:solidFill>
                <a:latin typeface="DX시인과나" panose="02020600000000000000" pitchFamily="18" charset="-127"/>
                <a:ea typeface="DX시인과나" panose="02020600000000000000" pitchFamily="18" charset="-127"/>
              </a:rPr>
              <a:t>&lt; </a:t>
            </a:r>
            <a:r>
              <a:rPr lang="ko-KR" altLang="en-US" sz="1600" b="1" dirty="0">
                <a:solidFill>
                  <a:schemeClr val="bg1"/>
                </a:solidFill>
                <a:latin typeface="DX시인과나" panose="02020600000000000000" pitchFamily="18" charset="-127"/>
                <a:ea typeface="DX시인과나" panose="02020600000000000000" pitchFamily="18" charset="-127"/>
              </a:rPr>
              <a:t>튜토리얼 시스템 </a:t>
            </a:r>
            <a:r>
              <a:rPr lang="en-US" altLang="ko-KR" sz="1600" b="1" dirty="0">
                <a:solidFill>
                  <a:schemeClr val="bg1"/>
                </a:solidFill>
                <a:latin typeface="DX시인과나" panose="02020600000000000000" pitchFamily="18" charset="-127"/>
                <a:ea typeface="DX시인과나" panose="02020600000000000000" pitchFamily="18" charset="-127"/>
              </a:rPr>
              <a:t>&gt;</a:t>
            </a:r>
            <a:endParaRPr lang="ko-KR" altLang="en-US" sz="1600" b="1" dirty="0">
              <a:solidFill>
                <a:schemeClr val="bg1"/>
              </a:solidFill>
              <a:latin typeface="DX시인과나" panose="02020600000000000000" pitchFamily="18" charset="-127"/>
              <a:ea typeface="DX시인과나" panose="02020600000000000000" pitchFamily="18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E3976C3-C30B-C223-E750-6D77DD08FE88}"/>
              </a:ext>
            </a:extLst>
          </p:cNvPr>
          <p:cNvSpPr txBox="1"/>
          <p:nvPr/>
        </p:nvSpPr>
        <p:spPr>
          <a:xfrm>
            <a:off x="3672395" y="802661"/>
            <a:ext cx="47939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600" b="1" dirty="0">
                <a:solidFill>
                  <a:srgbClr val="F1E6BF"/>
                </a:solidFill>
                <a:latin typeface="DX시인과나" panose="02020600000000000000" pitchFamily="18" charset="-127"/>
                <a:ea typeface="DX시인과나" panose="02020600000000000000" pitchFamily="18" charset="-127"/>
              </a:rPr>
              <a:t>1. </a:t>
            </a:r>
            <a:r>
              <a:rPr lang="ko-KR" altLang="en-US" sz="3600" b="1" dirty="0">
                <a:solidFill>
                  <a:srgbClr val="F1E6BF"/>
                </a:solidFill>
                <a:latin typeface="DX시인과나" panose="02020600000000000000" pitchFamily="18" charset="-127"/>
                <a:ea typeface="DX시인과나" panose="02020600000000000000" pitchFamily="18" charset="-127"/>
              </a:rPr>
              <a:t>뒷산의 유적</a:t>
            </a:r>
          </a:p>
        </p:txBody>
      </p:sp>
    </p:spTree>
    <p:extLst>
      <p:ext uri="{BB962C8B-B14F-4D97-AF65-F5344CB8AC3E}">
        <p14:creationId xmlns:p14="http://schemas.microsoft.com/office/powerpoint/2010/main" val="13369888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AFC3B8-016D-70C9-8D50-5492F4C3D4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1CE803B-A171-77EB-1E72-1BE5FD801E3D}"/>
              </a:ext>
            </a:extLst>
          </p:cNvPr>
          <p:cNvSpPr txBox="1"/>
          <p:nvPr/>
        </p:nvSpPr>
        <p:spPr>
          <a:xfrm>
            <a:off x="567523" y="5565140"/>
            <a:ext cx="110569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b="1" dirty="0">
                <a:solidFill>
                  <a:schemeClr val="bg1"/>
                </a:solidFill>
                <a:latin typeface="DX시인과나" panose="02020600000000000000" pitchFamily="18" charset="-127"/>
                <a:ea typeface="DX시인과나" panose="02020600000000000000" pitchFamily="18" charset="-127"/>
              </a:rPr>
              <a:t>유적의 스위치에 같은 색상의 열쇠를 올려 놓아야 한다</a:t>
            </a:r>
            <a:r>
              <a:rPr lang="en-US" altLang="ko-KR" sz="2000" b="1" dirty="0">
                <a:solidFill>
                  <a:schemeClr val="bg1"/>
                </a:solidFill>
                <a:latin typeface="DX시인과나" panose="02020600000000000000" pitchFamily="18" charset="-127"/>
                <a:ea typeface="DX시인과나" panose="02020600000000000000" pitchFamily="18" charset="-127"/>
              </a:rPr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FA5F28D-C9F9-A59E-23FE-7DD695BF6F86}"/>
              </a:ext>
            </a:extLst>
          </p:cNvPr>
          <p:cNvSpPr txBox="1"/>
          <p:nvPr/>
        </p:nvSpPr>
        <p:spPr>
          <a:xfrm>
            <a:off x="3672395" y="802661"/>
            <a:ext cx="47939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600" b="1" dirty="0">
                <a:solidFill>
                  <a:srgbClr val="F1E6BF"/>
                </a:solidFill>
                <a:latin typeface="DX시인과나" panose="02020600000000000000" pitchFamily="18" charset="-127"/>
                <a:ea typeface="DX시인과나" panose="02020600000000000000" pitchFamily="18" charset="-127"/>
              </a:rPr>
              <a:t>1. </a:t>
            </a:r>
            <a:r>
              <a:rPr lang="ko-KR" altLang="en-US" sz="3600" b="1" dirty="0">
                <a:solidFill>
                  <a:srgbClr val="F1E6BF"/>
                </a:solidFill>
                <a:latin typeface="DX시인과나" panose="02020600000000000000" pitchFamily="18" charset="-127"/>
                <a:ea typeface="DX시인과나" panose="02020600000000000000" pitchFamily="18" charset="-127"/>
              </a:rPr>
              <a:t>뒷산의 유적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61EDC777-9A1E-F681-75D0-947D44B180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548" y="2034686"/>
            <a:ext cx="5463816" cy="2747499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02E86C63-F837-B047-4C68-9126DEAB85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3061" y="2032303"/>
            <a:ext cx="5460391" cy="274749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1A9FA29-C67D-0D81-7B99-CBB39199B123}"/>
              </a:ext>
            </a:extLst>
          </p:cNvPr>
          <p:cNvSpPr txBox="1"/>
          <p:nvPr/>
        </p:nvSpPr>
        <p:spPr>
          <a:xfrm>
            <a:off x="1757749" y="5226586"/>
            <a:ext cx="85044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b="1" dirty="0">
                <a:solidFill>
                  <a:schemeClr val="bg1"/>
                </a:solidFill>
                <a:latin typeface="DX시인과나" panose="02020600000000000000" pitchFamily="18" charset="-127"/>
                <a:ea typeface="DX시인과나" panose="02020600000000000000" pitchFamily="18" charset="-127"/>
              </a:rPr>
              <a:t>&lt; </a:t>
            </a:r>
            <a:r>
              <a:rPr lang="ko-KR" altLang="en-US" sz="1600" b="1" dirty="0">
                <a:solidFill>
                  <a:schemeClr val="bg1"/>
                </a:solidFill>
                <a:latin typeface="DX시인과나" panose="02020600000000000000" pitchFamily="18" charset="-127"/>
                <a:ea typeface="DX시인과나" panose="02020600000000000000" pitchFamily="18" charset="-127"/>
              </a:rPr>
              <a:t>유적에 들어가는 방법 </a:t>
            </a:r>
            <a:r>
              <a:rPr lang="en-US" altLang="ko-KR" sz="1600" b="1" dirty="0">
                <a:solidFill>
                  <a:schemeClr val="bg1"/>
                </a:solidFill>
                <a:latin typeface="DX시인과나" panose="02020600000000000000" pitchFamily="18" charset="-127"/>
                <a:ea typeface="DX시인과나" panose="02020600000000000000" pitchFamily="18" charset="-127"/>
              </a:rPr>
              <a:t>&gt;</a:t>
            </a:r>
            <a:endParaRPr lang="ko-KR" altLang="en-US" sz="1600" b="1" dirty="0">
              <a:solidFill>
                <a:schemeClr val="bg1"/>
              </a:solidFill>
              <a:latin typeface="DX시인과나" panose="02020600000000000000" pitchFamily="18" charset="-127"/>
              <a:ea typeface="DX시인과나" panose="02020600000000000000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094433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716553-E533-F3E4-CD16-56D08E4A45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13A3A8B-33B6-4D93-DC1A-F99462E8FF3E}"/>
              </a:ext>
            </a:extLst>
          </p:cNvPr>
          <p:cNvSpPr txBox="1"/>
          <p:nvPr/>
        </p:nvSpPr>
        <p:spPr>
          <a:xfrm>
            <a:off x="3699029" y="745724"/>
            <a:ext cx="47939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600" b="1" dirty="0">
                <a:solidFill>
                  <a:srgbClr val="F1E6BF"/>
                </a:solidFill>
                <a:latin typeface="DX시인과나" panose="02020600000000000000" pitchFamily="18" charset="-127"/>
                <a:ea typeface="DX시인과나" panose="02020600000000000000" pitchFamily="18" charset="-127"/>
              </a:rPr>
              <a:t>2. </a:t>
            </a:r>
            <a:r>
              <a:rPr lang="ko-KR" altLang="en-US" sz="3600" b="1" dirty="0">
                <a:solidFill>
                  <a:srgbClr val="F1E6BF"/>
                </a:solidFill>
                <a:latin typeface="DX시인과나" panose="02020600000000000000" pitchFamily="18" charset="-127"/>
                <a:ea typeface="DX시인과나" panose="02020600000000000000" pitchFamily="18" charset="-127"/>
              </a:rPr>
              <a:t>유적 입구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31D0F5D-F2B6-0864-EEF6-FB580FB5CC45}"/>
              </a:ext>
            </a:extLst>
          </p:cNvPr>
          <p:cNvSpPr txBox="1"/>
          <p:nvPr/>
        </p:nvSpPr>
        <p:spPr>
          <a:xfrm>
            <a:off x="567523" y="5712166"/>
            <a:ext cx="110569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b="1" dirty="0">
                <a:solidFill>
                  <a:schemeClr val="bg1"/>
                </a:solidFill>
                <a:latin typeface="DX시인과나" panose="02020600000000000000" pitchFamily="18" charset="-127"/>
                <a:ea typeface="DX시인과나" panose="02020600000000000000" pitchFamily="18" charset="-127"/>
              </a:rPr>
              <a:t>주인공의 기억과 가상 공간이 혼재되어 있는 장소 </a:t>
            </a:r>
            <a:endParaRPr lang="en-US" altLang="ko-KR" sz="2000" b="1" dirty="0">
              <a:solidFill>
                <a:schemeClr val="bg1"/>
              </a:solidFill>
              <a:latin typeface="DX시인과나" panose="02020600000000000000" pitchFamily="18" charset="-127"/>
              <a:ea typeface="DX시인과나" panose="02020600000000000000" pitchFamily="18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57DC2755-5E39-5BA3-A495-F7E28C65B5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1107" y="1679659"/>
            <a:ext cx="6909786" cy="34986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97058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E0233D-2B91-4527-8CA2-5B86B9D8BE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88157A3-1A1B-D43A-7193-834A794AFA28}"/>
              </a:ext>
            </a:extLst>
          </p:cNvPr>
          <p:cNvSpPr txBox="1"/>
          <p:nvPr/>
        </p:nvSpPr>
        <p:spPr>
          <a:xfrm>
            <a:off x="643815" y="5803291"/>
            <a:ext cx="110569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b="1" dirty="0">
                <a:solidFill>
                  <a:schemeClr val="bg1"/>
                </a:solidFill>
                <a:latin typeface="DX시인과나" panose="02020600000000000000" pitchFamily="18" charset="-127"/>
                <a:ea typeface="DX시인과나" panose="02020600000000000000" pitchFamily="18" charset="-127"/>
              </a:rPr>
              <a:t>해당 게임의 체크포인트 역할</a:t>
            </a:r>
            <a:endParaRPr lang="en-US" altLang="ko-KR" sz="2000" b="1" dirty="0">
              <a:solidFill>
                <a:schemeClr val="bg1"/>
              </a:solidFill>
              <a:latin typeface="DX시인과나" panose="02020600000000000000" pitchFamily="18" charset="-127"/>
              <a:ea typeface="DX시인과나" panose="02020600000000000000" pitchFamily="18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BF875E45-5F2E-0290-A098-9C6C2DC74C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1107" y="1679659"/>
            <a:ext cx="6909786" cy="3498681"/>
          </a:xfrm>
          <a:prstGeom prst="rect">
            <a:avLst/>
          </a:prstGeom>
        </p:spPr>
      </p:pic>
      <p:sp>
        <p:nvSpPr>
          <p:cNvPr id="4" name="타원 3">
            <a:extLst>
              <a:ext uri="{FF2B5EF4-FFF2-40B4-BE49-F238E27FC236}">
                <a16:creationId xmlns:a16="http://schemas.microsoft.com/office/drawing/2014/main" id="{96FB53DA-E037-DCAE-5069-12368F26F0C5}"/>
              </a:ext>
            </a:extLst>
          </p:cNvPr>
          <p:cNvSpPr/>
          <p:nvPr/>
        </p:nvSpPr>
        <p:spPr>
          <a:xfrm>
            <a:off x="3426781" y="2601440"/>
            <a:ext cx="1997475" cy="2024109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6D6998D-07E3-0B23-567E-96A8FD79358E}"/>
              </a:ext>
            </a:extLst>
          </p:cNvPr>
          <p:cNvSpPr txBox="1"/>
          <p:nvPr/>
        </p:nvSpPr>
        <p:spPr>
          <a:xfrm>
            <a:off x="3699029" y="745724"/>
            <a:ext cx="47939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600" b="1" dirty="0">
                <a:solidFill>
                  <a:srgbClr val="F1E6BF"/>
                </a:solidFill>
                <a:latin typeface="DX시인과나" panose="02020600000000000000" pitchFamily="18" charset="-127"/>
                <a:ea typeface="DX시인과나" panose="02020600000000000000" pitchFamily="18" charset="-127"/>
              </a:rPr>
              <a:t>2. </a:t>
            </a:r>
            <a:r>
              <a:rPr lang="ko-KR" altLang="en-US" sz="3600" b="1" dirty="0">
                <a:solidFill>
                  <a:srgbClr val="F1E6BF"/>
                </a:solidFill>
                <a:latin typeface="DX시인과나" panose="02020600000000000000" pitchFamily="18" charset="-127"/>
                <a:ea typeface="DX시인과나" panose="02020600000000000000" pitchFamily="18" charset="-127"/>
              </a:rPr>
              <a:t>유적 입구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C9EB587-DDBB-6517-FA65-A8A7F22C858F}"/>
              </a:ext>
            </a:extLst>
          </p:cNvPr>
          <p:cNvSpPr txBox="1"/>
          <p:nvPr/>
        </p:nvSpPr>
        <p:spPr>
          <a:xfrm>
            <a:off x="3047260" y="5465944"/>
            <a:ext cx="60945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600" b="1" dirty="0">
                <a:solidFill>
                  <a:schemeClr val="bg1"/>
                </a:solidFill>
                <a:latin typeface="DX시인과나" panose="02020600000000000000" pitchFamily="18" charset="-127"/>
                <a:ea typeface="DX시인과나" panose="02020600000000000000" pitchFamily="18" charset="-127"/>
              </a:rPr>
              <a:t>&lt; </a:t>
            </a:r>
            <a:r>
              <a:rPr lang="ko-KR" altLang="en-US" sz="1600" b="1" dirty="0">
                <a:solidFill>
                  <a:schemeClr val="bg1"/>
                </a:solidFill>
                <a:latin typeface="DX시인과나" panose="02020600000000000000" pitchFamily="18" charset="-127"/>
                <a:ea typeface="DX시인과나" panose="02020600000000000000" pitchFamily="18" charset="-127"/>
              </a:rPr>
              <a:t>캠프 </a:t>
            </a:r>
            <a:r>
              <a:rPr lang="en-US" altLang="ko-KR" sz="1600" b="1" dirty="0">
                <a:solidFill>
                  <a:schemeClr val="bg1"/>
                </a:solidFill>
                <a:latin typeface="DX시인과나" panose="02020600000000000000" pitchFamily="18" charset="-127"/>
                <a:ea typeface="DX시인과나" panose="02020600000000000000" pitchFamily="18" charset="-127"/>
              </a:rPr>
              <a:t>&gt; 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17244231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650631-EA56-97C4-88D6-A7A2797EF9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4DC3EDA-F7AE-FF4B-8DC9-6084C77BAE43}"/>
              </a:ext>
            </a:extLst>
          </p:cNvPr>
          <p:cNvSpPr txBox="1"/>
          <p:nvPr/>
        </p:nvSpPr>
        <p:spPr>
          <a:xfrm>
            <a:off x="567523" y="5789109"/>
            <a:ext cx="110569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b="1" dirty="0">
                <a:solidFill>
                  <a:schemeClr val="bg1"/>
                </a:solidFill>
                <a:latin typeface="DX시인과나" panose="02020600000000000000" pitchFamily="18" charset="-127"/>
                <a:ea typeface="DX시인과나" panose="02020600000000000000" pitchFamily="18" charset="-127"/>
              </a:rPr>
              <a:t>모티브 </a:t>
            </a:r>
            <a:r>
              <a:rPr lang="en-US" altLang="ko-KR" sz="2000" b="1" dirty="0">
                <a:solidFill>
                  <a:schemeClr val="bg1"/>
                </a:solidFill>
                <a:latin typeface="DX시인과나" panose="02020600000000000000" pitchFamily="18" charset="-127"/>
                <a:ea typeface="DX시인과나" panose="02020600000000000000" pitchFamily="18" charset="-127"/>
              </a:rPr>
              <a:t>: </a:t>
            </a:r>
            <a:r>
              <a:rPr lang="ko-KR" altLang="en-US" sz="2000" b="1" dirty="0">
                <a:solidFill>
                  <a:schemeClr val="bg1"/>
                </a:solidFill>
                <a:latin typeface="DX시인과나" panose="02020600000000000000" pitchFamily="18" charset="-127"/>
                <a:ea typeface="DX시인과나" panose="02020600000000000000" pitchFamily="18" charset="-127"/>
              </a:rPr>
              <a:t>뒷산 계곡에서 올챙이를 채집해서 키운 추억</a:t>
            </a:r>
            <a:endParaRPr lang="en-US" altLang="ko-KR" sz="2000" b="1" dirty="0">
              <a:solidFill>
                <a:schemeClr val="bg1"/>
              </a:solidFill>
              <a:latin typeface="DX시인과나" panose="02020600000000000000" pitchFamily="18" charset="-127"/>
              <a:ea typeface="DX시인과나" panose="02020600000000000000" pitchFamily="18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540581E-6B1A-1434-15C2-BF330AB1F4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1002" y="1573966"/>
            <a:ext cx="7327036" cy="371006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2687F67-A3FC-4B23-D2CA-D222FDD2773E}"/>
              </a:ext>
            </a:extLst>
          </p:cNvPr>
          <p:cNvSpPr txBox="1"/>
          <p:nvPr/>
        </p:nvSpPr>
        <p:spPr>
          <a:xfrm>
            <a:off x="3699029" y="745724"/>
            <a:ext cx="47939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600" b="1" dirty="0">
                <a:solidFill>
                  <a:srgbClr val="F1E6BF"/>
                </a:solidFill>
                <a:latin typeface="DX시인과나" panose="02020600000000000000" pitchFamily="18" charset="-127"/>
                <a:ea typeface="DX시인과나" panose="02020600000000000000" pitchFamily="18" charset="-127"/>
              </a:rPr>
              <a:t>2. </a:t>
            </a:r>
            <a:r>
              <a:rPr lang="ko-KR" altLang="en-US" sz="3600" b="1" dirty="0">
                <a:solidFill>
                  <a:srgbClr val="F1E6BF"/>
                </a:solidFill>
                <a:latin typeface="DX시인과나" panose="02020600000000000000" pitchFamily="18" charset="-127"/>
                <a:ea typeface="DX시인과나" panose="02020600000000000000" pitchFamily="18" charset="-127"/>
              </a:rPr>
              <a:t>유적 입구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750EE4A-24A2-C881-B687-9E052E089DA9}"/>
              </a:ext>
            </a:extLst>
          </p:cNvPr>
          <p:cNvSpPr txBox="1"/>
          <p:nvPr/>
        </p:nvSpPr>
        <p:spPr>
          <a:xfrm>
            <a:off x="3047260" y="5437533"/>
            <a:ext cx="6094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800" b="1" dirty="0">
                <a:solidFill>
                  <a:schemeClr val="bg1"/>
                </a:solidFill>
                <a:latin typeface="DX시인과나" panose="02020600000000000000" pitchFamily="18" charset="-127"/>
                <a:ea typeface="DX시인과나" panose="02020600000000000000" pitchFamily="18" charset="-127"/>
              </a:rPr>
              <a:t>&lt; NPC &gt;</a:t>
            </a:r>
          </a:p>
        </p:txBody>
      </p:sp>
    </p:spTree>
    <p:extLst>
      <p:ext uri="{BB962C8B-B14F-4D97-AF65-F5344CB8AC3E}">
        <p14:creationId xmlns:p14="http://schemas.microsoft.com/office/powerpoint/2010/main" val="41182061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756505-83F0-DF42-653E-648D4EAFE8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12E3E49-E2DE-45A4-BF2C-9E2D209F6BA9}"/>
              </a:ext>
            </a:extLst>
          </p:cNvPr>
          <p:cNvSpPr txBox="1"/>
          <p:nvPr/>
        </p:nvSpPr>
        <p:spPr>
          <a:xfrm>
            <a:off x="567523" y="5806865"/>
            <a:ext cx="110569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b="1" dirty="0">
                <a:solidFill>
                  <a:schemeClr val="bg1"/>
                </a:solidFill>
                <a:latin typeface="DX시인과나" panose="02020600000000000000" pitchFamily="18" charset="-127"/>
                <a:ea typeface="DX시인과나" panose="02020600000000000000" pitchFamily="18" charset="-127"/>
              </a:rPr>
              <a:t>퍼즐 모티브 </a:t>
            </a:r>
            <a:r>
              <a:rPr lang="en-US" altLang="ko-KR" sz="2000" b="1" dirty="0">
                <a:solidFill>
                  <a:schemeClr val="bg1"/>
                </a:solidFill>
                <a:latin typeface="DX시인과나" panose="02020600000000000000" pitchFamily="18" charset="-127"/>
                <a:ea typeface="DX시인과나" panose="02020600000000000000" pitchFamily="18" charset="-127"/>
              </a:rPr>
              <a:t>: </a:t>
            </a:r>
            <a:r>
              <a:rPr lang="ko-KR" altLang="en-US" sz="2000" b="1" dirty="0">
                <a:solidFill>
                  <a:schemeClr val="bg1"/>
                </a:solidFill>
                <a:latin typeface="DX시인과나" panose="02020600000000000000" pitchFamily="18" charset="-127"/>
                <a:ea typeface="DX시인과나" panose="02020600000000000000" pitchFamily="18" charset="-127"/>
              </a:rPr>
              <a:t>어렸을 때 즐겼던 게임 </a:t>
            </a:r>
            <a:r>
              <a:rPr lang="en-US" altLang="ko-KR" sz="2000" b="1" dirty="0">
                <a:solidFill>
                  <a:schemeClr val="bg1"/>
                </a:solidFill>
                <a:latin typeface="DX시인과나" panose="02020600000000000000" pitchFamily="18" charset="-127"/>
                <a:ea typeface="DX시인과나" panose="02020600000000000000" pitchFamily="18" charset="-127"/>
              </a:rPr>
              <a:t>(</a:t>
            </a:r>
            <a:r>
              <a:rPr lang="ko-KR" altLang="en-US" sz="2000" b="1" dirty="0">
                <a:solidFill>
                  <a:schemeClr val="bg1"/>
                </a:solidFill>
                <a:latin typeface="DX시인과나" panose="02020600000000000000" pitchFamily="18" charset="-127"/>
                <a:ea typeface="DX시인과나" panose="02020600000000000000" pitchFamily="18" charset="-127"/>
              </a:rPr>
              <a:t>플래시 게임</a:t>
            </a:r>
            <a:r>
              <a:rPr lang="en-US" altLang="ko-KR" sz="2000" b="1" dirty="0">
                <a:solidFill>
                  <a:schemeClr val="bg1"/>
                </a:solidFill>
                <a:latin typeface="DX시인과나" panose="02020600000000000000" pitchFamily="18" charset="-127"/>
                <a:ea typeface="DX시인과나" panose="02020600000000000000" pitchFamily="18" charset="-127"/>
              </a:rPr>
              <a:t>, </a:t>
            </a:r>
            <a:r>
              <a:rPr lang="ko-KR" altLang="en-US" sz="2000" b="1" dirty="0">
                <a:solidFill>
                  <a:schemeClr val="bg1"/>
                </a:solidFill>
                <a:latin typeface="DX시인과나" panose="02020600000000000000" pitchFamily="18" charset="-127"/>
                <a:ea typeface="DX시인과나" panose="02020600000000000000" pitchFamily="18" charset="-127"/>
              </a:rPr>
              <a:t>레이튼 교수</a:t>
            </a:r>
            <a:r>
              <a:rPr lang="en-US" altLang="ko-KR" sz="2000" b="1" dirty="0">
                <a:solidFill>
                  <a:schemeClr val="bg1"/>
                </a:solidFill>
                <a:latin typeface="DX시인과나" panose="02020600000000000000" pitchFamily="18" charset="-127"/>
                <a:ea typeface="DX시인과나" panose="02020600000000000000" pitchFamily="18" charset="-127"/>
              </a:rPr>
              <a:t>)</a:t>
            </a:r>
            <a:r>
              <a:rPr lang="ko-KR" altLang="en-US" sz="2000" b="1" dirty="0">
                <a:solidFill>
                  <a:schemeClr val="bg1"/>
                </a:solidFill>
                <a:latin typeface="DX시인과나" panose="02020600000000000000" pitchFamily="18" charset="-127"/>
                <a:ea typeface="DX시인과나" panose="02020600000000000000" pitchFamily="18" charset="-127"/>
              </a:rPr>
              <a:t> </a:t>
            </a:r>
            <a:endParaRPr lang="en-US" altLang="ko-KR" sz="2000" b="1" dirty="0">
              <a:solidFill>
                <a:schemeClr val="bg1"/>
              </a:solidFill>
              <a:latin typeface="DX시인과나" panose="02020600000000000000" pitchFamily="18" charset="-127"/>
              <a:ea typeface="DX시인과나" panose="02020600000000000000" pitchFamily="18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B6A9A941-3FC5-0767-323D-4CAEF6143B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05847" y="1586800"/>
            <a:ext cx="7327037" cy="36844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5B584D8-80BC-6F35-D0F7-8A752736CFBA}"/>
              </a:ext>
            </a:extLst>
          </p:cNvPr>
          <p:cNvSpPr txBox="1"/>
          <p:nvPr/>
        </p:nvSpPr>
        <p:spPr>
          <a:xfrm>
            <a:off x="3699029" y="745724"/>
            <a:ext cx="47939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600" b="1" dirty="0">
                <a:solidFill>
                  <a:srgbClr val="F1E6BF"/>
                </a:solidFill>
                <a:latin typeface="DX시인과나" panose="02020600000000000000" pitchFamily="18" charset="-127"/>
                <a:ea typeface="DX시인과나" panose="02020600000000000000" pitchFamily="18" charset="-127"/>
              </a:rPr>
              <a:t>2. </a:t>
            </a:r>
            <a:r>
              <a:rPr lang="ko-KR" altLang="en-US" sz="3600" b="1" dirty="0">
                <a:solidFill>
                  <a:srgbClr val="F1E6BF"/>
                </a:solidFill>
                <a:latin typeface="DX시인과나" panose="02020600000000000000" pitchFamily="18" charset="-127"/>
                <a:ea typeface="DX시인과나" panose="02020600000000000000" pitchFamily="18" charset="-127"/>
              </a:rPr>
              <a:t>유적 입구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9076578-783F-81DD-96F2-EED033C2FF7E}"/>
              </a:ext>
            </a:extLst>
          </p:cNvPr>
          <p:cNvSpPr txBox="1"/>
          <p:nvPr/>
        </p:nvSpPr>
        <p:spPr>
          <a:xfrm>
            <a:off x="3047260" y="5437533"/>
            <a:ext cx="6094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800" b="1" dirty="0">
                <a:solidFill>
                  <a:schemeClr val="bg1"/>
                </a:solidFill>
                <a:latin typeface="DX시인과나" panose="02020600000000000000" pitchFamily="18" charset="-127"/>
                <a:ea typeface="DX시인과나" panose="02020600000000000000" pitchFamily="18" charset="-127"/>
              </a:rPr>
              <a:t>&lt; </a:t>
            </a:r>
            <a:r>
              <a:rPr lang="ko-KR" altLang="en-US" sz="1800" b="1" dirty="0">
                <a:solidFill>
                  <a:schemeClr val="bg1"/>
                </a:solidFill>
                <a:latin typeface="DX시인과나" panose="02020600000000000000" pitchFamily="18" charset="-127"/>
                <a:ea typeface="DX시인과나" panose="02020600000000000000" pitchFamily="18" charset="-127"/>
              </a:rPr>
              <a:t>미니게임</a:t>
            </a:r>
            <a:r>
              <a:rPr lang="en-US" altLang="ko-KR" sz="1800" b="1" dirty="0">
                <a:solidFill>
                  <a:schemeClr val="bg1"/>
                </a:solidFill>
                <a:latin typeface="DX시인과나" panose="02020600000000000000" pitchFamily="18" charset="-127"/>
                <a:ea typeface="DX시인과나" panose="02020600000000000000" pitchFamily="18" charset="-127"/>
              </a:rPr>
              <a:t> &gt;</a:t>
            </a:r>
          </a:p>
        </p:txBody>
      </p:sp>
    </p:spTree>
    <p:extLst>
      <p:ext uri="{BB962C8B-B14F-4D97-AF65-F5344CB8AC3E}">
        <p14:creationId xmlns:p14="http://schemas.microsoft.com/office/powerpoint/2010/main" val="6648078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9C07E1-E8A3-1E4F-6488-BC34937DD2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66C3E19-79D4-9F39-F657-FCFEF4B17016}"/>
              </a:ext>
            </a:extLst>
          </p:cNvPr>
          <p:cNvSpPr txBox="1"/>
          <p:nvPr/>
        </p:nvSpPr>
        <p:spPr>
          <a:xfrm>
            <a:off x="540889" y="5808645"/>
            <a:ext cx="110569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b="1" dirty="0">
                <a:solidFill>
                  <a:schemeClr val="bg1"/>
                </a:solidFill>
                <a:latin typeface="DX시인과나" panose="02020600000000000000" pitchFamily="18" charset="-127"/>
                <a:ea typeface="DX시인과나" panose="02020600000000000000" pitchFamily="18" charset="-127"/>
              </a:rPr>
              <a:t>막혀 있는 벽을 움직여 진행해야 한다</a:t>
            </a:r>
            <a:r>
              <a:rPr lang="en-US" altLang="ko-KR" sz="2000" b="1" dirty="0">
                <a:solidFill>
                  <a:schemeClr val="bg1"/>
                </a:solidFill>
                <a:latin typeface="DX시인과나" panose="02020600000000000000" pitchFamily="18" charset="-127"/>
                <a:ea typeface="DX시인과나" panose="02020600000000000000" pitchFamily="18" charset="-127"/>
              </a:rPr>
              <a:t>.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220010F6-53D5-3D9A-1D43-52D552A181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4676" y="1601415"/>
            <a:ext cx="7282649" cy="365517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AC64F29-EF38-44FD-7438-239A2FB38F29}"/>
              </a:ext>
            </a:extLst>
          </p:cNvPr>
          <p:cNvSpPr txBox="1"/>
          <p:nvPr/>
        </p:nvSpPr>
        <p:spPr>
          <a:xfrm>
            <a:off x="3699029" y="745724"/>
            <a:ext cx="47939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600" b="1" dirty="0">
                <a:solidFill>
                  <a:srgbClr val="F1E6BF"/>
                </a:solidFill>
                <a:latin typeface="DX시인과나" panose="02020600000000000000" pitchFamily="18" charset="-127"/>
                <a:ea typeface="DX시인과나" panose="02020600000000000000" pitchFamily="18" charset="-127"/>
              </a:rPr>
              <a:t>3. </a:t>
            </a:r>
            <a:r>
              <a:rPr lang="ko-KR" altLang="en-US" sz="3600" b="1" dirty="0">
                <a:solidFill>
                  <a:srgbClr val="F1E6BF"/>
                </a:solidFill>
                <a:latin typeface="DX시인과나" panose="02020600000000000000" pitchFamily="18" charset="-127"/>
                <a:ea typeface="DX시인과나" panose="02020600000000000000" pitchFamily="18" charset="-127"/>
              </a:rPr>
              <a:t>유적 내부</a:t>
            </a:r>
          </a:p>
        </p:txBody>
      </p:sp>
    </p:spTree>
    <p:extLst>
      <p:ext uri="{BB962C8B-B14F-4D97-AF65-F5344CB8AC3E}">
        <p14:creationId xmlns:p14="http://schemas.microsoft.com/office/powerpoint/2010/main" val="23116344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99F831-A28C-C919-4501-8335495A17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02A03A1-F77F-0F62-4D52-1CCD4ABD386C}"/>
              </a:ext>
            </a:extLst>
          </p:cNvPr>
          <p:cNvSpPr txBox="1"/>
          <p:nvPr/>
        </p:nvSpPr>
        <p:spPr>
          <a:xfrm>
            <a:off x="540889" y="5765434"/>
            <a:ext cx="110569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b="1" dirty="0">
                <a:solidFill>
                  <a:schemeClr val="bg1"/>
                </a:solidFill>
                <a:latin typeface="DX시인과나" panose="02020600000000000000" pitchFamily="18" charset="-127"/>
                <a:ea typeface="DX시인과나" panose="02020600000000000000" pitchFamily="18" charset="-127"/>
              </a:rPr>
              <a:t>레버 조작을 통해 유적을 움직일 수 있다</a:t>
            </a:r>
            <a:r>
              <a:rPr lang="en-US" altLang="ko-KR" sz="2000" b="1" dirty="0">
                <a:solidFill>
                  <a:schemeClr val="bg1"/>
                </a:solidFill>
                <a:latin typeface="DX시인과나" panose="02020600000000000000" pitchFamily="18" charset="-127"/>
                <a:ea typeface="DX시인과나" panose="02020600000000000000" pitchFamily="18" charset="-127"/>
              </a:rPr>
              <a:t>.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E930C0DD-E8FC-E3FE-E669-DF4E806142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3784" y="1673483"/>
            <a:ext cx="7044433" cy="351103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49A81C1-8346-3247-7772-B95FD5EB8E06}"/>
              </a:ext>
            </a:extLst>
          </p:cNvPr>
          <p:cNvSpPr txBox="1"/>
          <p:nvPr/>
        </p:nvSpPr>
        <p:spPr>
          <a:xfrm>
            <a:off x="3699029" y="745724"/>
            <a:ext cx="47939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600" b="1" dirty="0">
                <a:solidFill>
                  <a:srgbClr val="F1E6BF"/>
                </a:solidFill>
                <a:latin typeface="DX시인과나" panose="02020600000000000000" pitchFamily="18" charset="-127"/>
                <a:ea typeface="DX시인과나" panose="02020600000000000000" pitchFamily="18" charset="-127"/>
              </a:rPr>
              <a:t>3. </a:t>
            </a:r>
            <a:r>
              <a:rPr lang="ko-KR" altLang="en-US" sz="3600" b="1" dirty="0">
                <a:solidFill>
                  <a:srgbClr val="F1E6BF"/>
                </a:solidFill>
                <a:latin typeface="DX시인과나" panose="02020600000000000000" pitchFamily="18" charset="-127"/>
                <a:ea typeface="DX시인과나" panose="02020600000000000000" pitchFamily="18" charset="-127"/>
              </a:rPr>
              <a:t>유적 내부</a:t>
            </a:r>
          </a:p>
        </p:txBody>
      </p:sp>
    </p:spTree>
    <p:extLst>
      <p:ext uri="{BB962C8B-B14F-4D97-AF65-F5344CB8AC3E}">
        <p14:creationId xmlns:p14="http://schemas.microsoft.com/office/powerpoint/2010/main" val="36698941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26BB2E-5AFF-399F-AEE0-E3F0BF3F04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3">
            <a:extLst>
              <a:ext uri="{FF2B5EF4-FFF2-40B4-BE49-F238E27FC236}">
                <a16:creationId xmlns:a16="http://schemas.microsoft.com/office/drawing/2014/main" id="{462928F7-57A8-9E12-C097-1197445292FC}"/>
              </a:ext>
            </a:extLst>
          </p:cNvPr>
          <p:cNvGrpSpPr/>
          <p:nvPr/>
        </p:nvGrpSpPr>
        <p:grpSpPr>
          <a:xfrm>
            <a:off x="2724381" y="2124412"/>
            <a:ext cx="10613903" cy="3464026"/>
            <a:chOff x="2813571" y="2124412"/>
            <a:chExt cx="10613903" cy="3464026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E5E1DA34-1571-8480-3A27-D8C675905A0A}"/>
                </a:ext>
              </a:extLst>
            </p:cNvPr>
            <p:cNvSpPr txBox="1"/>
            <p:nvPr/>
          </p:nvSpPr>
          <p:spPr>
            <a:xfrm>
              <a:off x="2840206" y="2124412"/>
              <a:ext cx="154536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400" b="1" dirty="0">
                  <a:solidFill>
                    <a:schemeClr val="bg1"/>
                  </a:solidFill>
                  <a:latin typeface="Pretendard ExtraBold" panose="02000903000000020004" pitchFamily="50" charset="-127"/>
                  <a:ea typeface="Pretendard ExtraBold" panose="02000903000000020004" pitchFamily="50" charset="-127"/>
                  <a:cs typeface="Pretendard ExtraBold" panose="02000903000000020004" pitchFamily="50" charset="-127"/>
                </a:rPr>
                <a:t>기획</a:t>
              </a:r>
              <a:endParaRPr lang="en-US" altLang="ko-KR" sz="2400" b="1" dirty="0">
                <a:solidFill>
                  <a:schemeClr val="bg1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6021C14F-2548-28BD-1E42-66D5E30C425C}"/>
                </a:ext>
              </a:extLst>
            </p:cNvPr>
            <p:cNvSpPr txBox="1"/>
            <p:nvPr/>
          </p:nvSpPr>
          <p:spPr>
            <a:xfrm>
              <a:off x="4540926" y="2133290"/>
              <a:ext cx="888654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ko-KR" altLang="en-US" sz="2000" b="1" dirty="0">
                  <a:solidFill>
                    <a:schemeClr val="bg1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기획 수정 및 기획서 내용과 차이점 체크</a:t>
              </a:r>
              <a:endParaRPr lang="en-US" altLang="ko-KR" sz="2000" b="1" dirty="0">
                <a:solidFill>
                  <a:schemeClr val="bg1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A1A454E1-9380-E2A0-A61B-627BDA67FD73}"/>
                </a:ext>
              </a:extLst>
            </p:cNvPr>
            <p:cNvSpPr txBox="1"/>
            <p:nvPr/>
          </p:nvSpPr>
          <p:spPr>
            <a:xfrm>
              <a:off x="2813571" y="2875002"/>
              <a:ext cx="154536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400" b="1">
                  <a:solidFill>
                    <a:schemeClr val="bg1"/>
                  </a:solidFill>
                  <a:latin typeface="Pretendard ExtraBold" panose="02000903000000020004" pitchFamily="50" charset="-127"/>
                  <a:ea typeface="Pretendard ExtraBold" panose="02000903000000020004" pitchFamily="50" charset="-127"/>
                  <a:cs typeface="Pretendard ExtraBold" panose="02000903000000020004" pitchFamily="50" charset="-127"/>
                </a:rPr>
                <a:t>배경</a:t>
              </a:r>
              <a:endParaRPr lang="en-US" altLang="ko-KR" sz="2400" b="1" dirty="0">
                <a:solidFill>
                  <a:schemeClr val="bg1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E4B02CA6-D455-CF06-ED60-987ABA825EAA}"/>
                </a:ext>
              </a:extLst>
            </p:cNvPr>
            <p:cNvSpPr txBox="1"/>
            <p:nvPr/>
          </p:nvSpPr>
          <p:spPr>
            <a:xfrm>
              <a:off x="4540926" y="2875002"/>
              <a:ext cx="888654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n-US" altLang="ko-KR" sz="2000" b="1" dirty="0">
                  <a:solidFill>
                    <a:schemeClr val="bg1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1 </a:t>
              </a:r>
              <a:r>
                <a:rPr lang="ko-KR" altLang="en-US" sz="2000" b="1" dirty="0">
                  <a:solidFill>
                    <a:schemeClr val="bg1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스테이지 작업 경험 기반 </a:t>
              </a:r>
              <a:r>
                <a:rPr lang="en-US" altLang="ko-KR" sz="2000" b="1" dirty="0">
                  <a:solidFill>
                    <a:schemeClr val="bg1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2, 3, 4 </a:t>
              </a:r>
              <a:r>
                <a:rPr lang="ko-KR" altLang="en-US" sz="2000" b="1" dirty="0">
                  <a:solidFill>
                    <a:schemeClr val="bg1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스테이지 배경 작업</a:t>
              </a:r>
              <a:endParaRPr lang="en-US" altLang="ko-KR" sz="2000" b="1" dirty="0">
                <a:solidFill>
                  <a:schemeClr val="bg1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1CC76709-367D-F710-1725-5696EA1D150D}"/>
                </a:ext>
              </a:extLst>
            </p:cNvPr>
            <p:cNvSpPr txBox="1"/>
            <p:nvPr/>
          </p:nvSpPr>
          <p:spPr>
            <a:xfrm>
              <a:off x="2840206" y="3625593"/>
              <a:ext cx="211353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400" b="1" dirty="0">
                  <a:solidFill>
                    <a:schemeClr val="bg1"/>
                  </a:solidFill>
                  <a:latin typeface="Pretendard ExtraBold" panose="02000903000000020004" pitchFamily="50" charset="-127"/>
                  <a:ea typeface="Pretendard ExtraBold" panose="02000903000000020004" pitchFamily="50" charset="-127"/>
                  <a:cs typeface="Pretendard ExtraBold" panose="02000903000000020004" pitchFamily="50" charset="-127"/>
                </a:rPr>
                <a:t>프로그래밍</a:t>
              </a:r>
              <a:endParaRPr lang="en-US" altLang="ko-KR" sz="2400" b="1" dirty="0">
                <a:solidFill>
                  <a:schemeClr val="bg1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846CC2F8-AA42-EF52-3E73-1B6E38CFB738}"/>
                </a:ext>
              </a:extLst>
            </p:cNvPr>
            <p:cNvSpPr txBox="1"/>
            <p:nvPr/>
          </p:nvSpPr>
          <p:spPr>
            <a:xfrm>
              <a:off x="4540926" y="3666593"/>
              <a:ext cx="888654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ko-KR" altLang="en-US" sz="2000" b="1" dirty="0">
                  <a:solidFill>
                    <a:schemeClr val="bg1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미구현 미니게임 및 스테이지 간 연결 작업</a:t>
              </a:r>
              <a:endParaRPr lang="en-US" altLang="ko-KR" sz="2000" b="1" dirty="0">
                <a:solidFill>
                  <a:schemeClr val="bg1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F7B1D411-5C2E-8368-6ABF-C430ED16ACAF}"/>
                </a:ext>
              </a:extLst>
            </p:cNvPr>
            <p:cNvSpPr txBox="1"/>
            <p:nvPr/>
          </p:nvSpPr>
          <p:spPr>
            <a:xfrm>
              <a:off x="2840206" y="4376183"/>
              <a:ext cx="211353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400" b="1" dirty="0">
                  <a:solidFill>
                    <a:schemeClr val="bg1"/>
                  </a:solidFill>
                  <a:latin typeface="Pretendard ExtraBold" panose="02000903000000020004" pitchFamily="50" charset="-127"/>
                  <a:ea typeface="Pretendard ExtraBold" panose="02000903000000020004" pitchFamily="50" charset="-127"/>
                  <a:cs typeface="Pretendard ExtraBold" panose="02000903000000020004" pitchFamily="50" charset="-127"/>
                </a:rPr>
                <a:t>캐릭터</a:t>
              </a:r>
              <a:endParaRPr lang="en-US" altLang="ko-KR" sz="2400" b="1" dirty="0">
                <a:solidFill>
                  <a:schemeClr val="bg1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BFB32C32-738A-649C-65CD-F4B8A437A6EA}"/>
                </a:ext>
              </a:extLst>
            </p:cNvPr>
            <p:cNvSpPr txBox="1"/>
            <p:nvPr/>
          </p:nvSpPr>
          <p:spPr>
            <a:xfrm>
              <a:off x="4540926" y="4411695"/>
              <a:ext cx="888654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ko-KR" altLang="en-US" sz="2000" b="1" dirty="0">
                  <a:solidFill>
                    <a:schemeClr val="bg1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리깅 및 </a:t>
              </a:r>
              <a:r>
                <a:rPr lang="en-US" altLang="ko-KR" sz="2000" b="1" dirty="0">
                  <a:solidFill>
                    <a:schemeClr val="bg1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NPC </a:t>
              </a:r>
              <a:r>
                <a:rPr lang="ko-KR" altLang="en-US" sz="2000" b="1" dirty="0">
                  <a:solidFill>
                    <a:schemeClr val="bg1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제작 </a:t>
              </a:r>
              <a:endParaRPr lang="en-US" altLang="ko-KR" sz="2000" b="1" dirty="0">
                <a:solidFill>
                  <a:schemeClr val="bg1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AFE80EF-B40A-FFDA-41FA-B59445951A46}"/>
                </a:ext>
              </a:extLst>
            </p:cNvPr>
            <p:cNvSpPr txBox="1"/>
            <p:nvPr/>
          </p:nvSpPr>
          <p:spPr>
            <a:xfrm>
              <a:off x="2840206" y="5126773"/>
              <a:ext cx="211353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400" b="1" dirty="0">
                  <a:solidFill>
                    <a:schemeClr val="bg1"/>
                  </a:solidFill>
                  <a:latin typeface="Pretendard ExtraBold" panose="02000903000000020004" pitchFamily="50" charset="-127"/>
                  <a:ea typeface="Pretendard ExtraBold" panose="02000903000000020004" pitchFamily="50" charset="-127"/>
                  <a:cs typeface="Pretendard ExtraBold" panose="02000903000000020004" pitchFamily="50" charset="-127"/>
                </a:rPr>
                <a:t>원화</a:t>
              </a:r>
              <a:endParaRPr lang="en-US" altLang="ko-KR" sz="2400" b="1" dirty="0">
                <a:solidFill>
                  <a:schemeClr val="bg1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F1AC70BD-B8EB-6448-C5D0-F27383FF46D0}"/>
                </a:ext>
              </a:extLst>
            </p:cNvPr>
            <p:cNvSpPr txBox="1"/>
            <p:nvPr/>
          </p:nvSpPr>
          <p:spPr>
            <a:xfrm>
              <a:off x="4540926" y="5153405"/>
              <a:ext cx="888654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n-US" altLang="ko-KR" sz="2000" b="1" dirty="0">
                  <a:solidFill>
                    <a:schemeClr val="bg1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UI </a:t>
              </a:r>
              <a:r>
                <a:rPr lang="ko-KR" altLang="en-US" sz="2000" b="1" dirty="0">
                  <a:solidFill>
                    <a:schemeClr val="bg1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및 컷씬 구상</a:t>
              </a:r>
              <a:endParaRPr lang="en-US" altLang="ko-KR" sz="2000" b="1" dirty="0">
                <a:solidFill>
                  <a:schemeClr val="bg1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BFE2F4A-90A2-A57C-A7B7-2B7CB4883448}"/>
              </a:ext>
            </a:extLst>
          </p:cNvPr>
          <p:cNvSpPr txBox="1"/>
          <p:nvPr/>
        </p:nvSpPr>
        <p:spPr>
          <a:xfrm>
            <a:off x="3699029" y="745724"/>
            <a:ext cx="47939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600" b="1" dirty="0">
                <a:solidFill>
                  <a:srgbClr val="F1E6BF"/>
                </a:solidFill>
                <a:latin typeface="DX시인과나" panose="02020600000000000000" pitchFamily="18" charset="-127"/>
                <a:ea typeface="DX시인과나" panose="02020600000000000000" pitchFamily="18" charset="-127"/>
              </a:rPr>
              <a:t>4. </a:t>
            </a:r>
            <a:r>
              <a:rPr lang="ko-KR" altLang="en-US" sz="3600" b="1" dirty="0">
                <a:solidFill>
                  <a:srgbClr val="F1E6BF"/>
                </a:solidFill>
                <a:latin typeface="DX시인과나" panose="02020600000000000000" pitchFamily="18" charset="-127"/>
                <a:ea typeface="DX시인과나" panose="02020600000000000000" pitchFamily="18" charset="-127"/>
              </a:rPr>
              <a:t>향후 계획</a:t>
            </a:r>
          </a:p>
        </p:txBody>
      </p:sp>
    </p:spTree>
    <p:extLst>
      <p:ext uri="{BB962C8B-B14F-4D97-AF65-F5344CB8AC3E}">
        <p14:creationId xmlns:p14="http://schemas.microsoft.com/office/powerpoint/2010/main" val="25749098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033BD1-F046-5C56-3F55-B4541910E7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85508596-41EB-0816-99D5-52FA488682AA}"/>
              </a:ext>
            </a:extLst>
          </p:cNvPr>
          <p:cNvSpPr txBox="1"/>
          <p:nvPr/>
        </p:nvSpPr>
        <p:spPr>
          <a:xfrm>
            <a:off x="1504763" y="2312551"/>
            <a:ext cx="888654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0" b="1" spc="600" dirty="0" err="1">
                <a:solidFill>
                  <a:srgbClr val="F1E6BF"/>
                </a:solidFill>
                <a:latin typeface="NewYork" panose="02000503000000020004" pitchFamily="50" charset="0"/>
                <a:ea typeface="휴먼둥근헤드라인" panose="02030504000101010101" pitchFamily="18" charset="-127"/>
                <a:cs typeface="MV Boli" panose="02000500030200090000" pitchFamily="2" charset="0"/>
              </a:rPr>
              <a:t>Q</a:t>
            </a:r>
            <a:r>
              <a:rPr lang="en-US" altLang="ko-KR" sz="9600" b="1" spc="600" dirty="0" err="1">
                <a:solidFill>
                  <a:srgbClr val="F1E6BF"/>
                </a:solidFill>
                <a:latin typeface="NewYork" panose="02000503000000020004" pitchFamily="50" charset="0"/>
                <a:ea typeface="휴먼둥근헤드라인" panose="02030504000101010101" pitchFamily="18" charset="-127"/>
                <a:cs typeface="MV Boli" panose="02000500030200090000" pitchFamily="2" charset="0"/>
              </a:rPr>
              <a:t>n</a:t>
            </a:r>
            <a:r>
              <a:rPr lang="en-US" altLang="ko-KR" sz="12000" b="1" spc="600" dirty="0" err="1">
                <a:solidFill>
                  <a:srgbClr val="F1E6BF"/>
                </a:solidFill>
                <a:latin typeface="NewYork" panose="02000503000000020004" pitchFamily="50" charset="0"/>
                <a:ea typeface="휴먼둥근헤드라인" panose="02030504000101010101" pitchFamily="18" charset="-127"/>
                <a:cs typeface="MV Boli" panose="02000500030200090000" pitchFamily="2" charset="0"/>
              </a:rPr>
              <a:t>A</a:t>
            </a:r>
            <a:endParaRPr lang="en-US" altLang="ko-KR" sz="12000" b="1" spc="600" dirty="0">
              <a:solidFill>
                <a:srgbClr val="F1E6BF"/>
              </a:solidFill>
              <a:latin typeface="NewYork" panose="02000503000000020004" pitchFamily="50" charset="0"/>
              <a:ea typeface="휴먼둥근헤드라인" panose="02030504000101010101" pitchFamily="18" charset="-127"/>
              <a:cs typeface="MV Boli" panose="0200050003020009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74090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97</TotalTime>
  <Words>223</Words>
  <Application>Microsoft Office PowerPoint</Application>
  <PresentationFormat>와이드스크린</PresentationFormat>
  <Paragraphs>46</Paragraphs>
  <Slides>14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23" baseType="lpstr">
      <vt:lpstr>Pretendard Light</vt:lpstr>
      <vt:lpstr>Pretendard ExtraBold</vt:lpstr>
      <vt:lpstr>NewYork</vt:lpstr>
      <vt:lpstr>Book Antiqua</vt:lpstr>
      <vt:lpstr>Arial</vt:lpstr>
      <vt:lpstr>DX시인과나</vt:lpstr>
      <vt:lpstr>Garamond</vt:lpstr>
      <vt:lpstr>맑은 고딕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 SO</dc:creator>
  <cp:lastModifiedBy>GameSW</cp:lastModifiedBy>
  <cp:revision>25</cp:revision>
  <dcterms:created xsi:type="dcterms:W3CDTF">2026-05-05T14:59:17Z</dcterms:created>
  <dcterms:modified xsi:type="dcterms:W3CDTF">2026-05-06T05:29:37Z</dcterms:modified>
</cp:coreProperties>
</file>